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3" r:id="rId15"/>
    <p:sldId id="272" r:id="rId16"/>
    <p:sldId id="270" r:id="rId17"/>
    <p:sldId id="271" r:id="rId18"/>
  </p:sldIdLst>
  <p:sldSz cx="18288000" cy="10287000"/>
  <p:notesSz cx="6858000" cy="9144000"/>
  <p:embeddedFontLst>
    <p:embeddedFont>
      <p:font typeface="Blinker" panose="020B0604020202020204" charset="0"/>
      <p:regular r:id="rId19"/>
    </p:embeddedFont>
    <p:embeddedFont>
      <p:font typeface="Blinker Bold" panose="020B0604020202020204" charset="0"/>
      <p:regular r:id="rId20"/>
    </p:embeddedFont>
    <p:embeddedFont>
      <p:font typeface="Bobby Jones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6.svg"/><Relationship Id="rId7" Type="http://schemas.openxmlformats.org/officeDocument/2006/relationships/image" Target="../media/image2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Relationship Id="rId9" Type="http://schemas.openxmlformats.org/officeDocument/2006/relationships/image" Target="../media/image28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6.svg"/><Relationship Id="rId7" Type="http://schemas.openxmlformats.org/officeDocument/2006/relationships/image" Target="../media/image2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9" Type="http://schemas.openxmlformats.org/officeDocument/2006/relationships/image" Target="../media/image28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svg"/><Relationship Id="rId7" Type="http://schemas.openxmlformats.org/officeDocument/2006/relationships/image" Target="../media/image36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svg"/><Relationship Id="rId4" Type="http://schemas.openxmlformats.org/officeDocument/2006/relationships/image" Target="../media/image33.png"/><Relationship Id="rId9" Type="http://schemas.openxmlformats.org/officeDocument/2006/relationships/image" Target="../media/image38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svg"/><Relationship Id="rId4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3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8636732"/>
            <a:ext cx="18288000" cy="2785594"/>
            <a:chOff x="0" y="0"/>
            <a:chExt cx="4816593" cy="73365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733654"/>
            </a:xfrm>
            <a:custGeom>
              <a:avLst/>
              <a:gdLst/>
              <a:ahLst/>
              <a:cxnLst/>
              <a:rect l="l" t="t" r="r" b="b"/>
              <a:pathLst>
                <a:path w="4816592" h="733654">
                  <a:moveTo>
                    <a:pt x="0" y="0"/>
                  </a:moveTo>
                  <a:lnTo>
                    <a:pt x="4816592" y="0"/>
                  </a:lnTo>
                  <a:lnTo>
                    <a:pt x="4816592" y="733654"/>
                  </a:lnTo>
                  <a:lnTo>
                    <a:pt x="0" y="733654"/>
                  </a:lnTo>
                  <a:close/>
                </a:path>
              </a:pathLst>
            </a:custGeom>
            <a:solidFill>
              <a:srgbClr val="54243E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7908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5" name="Freeform 5"/>
          <p:cNvSpPr/>
          <p:nvPr/>
        </p:nvSpPr>
        <p:spPr>
          <a:xfrm>
            <a:off x="1525178" y="1028700"/>
            <a:ext cx="7122345" cy="8229600"/>
          </a:xfrm>
          <a:custGeom>
            <a:avLst/>
            <a:gdLst/>
            <a:ahLst/>
            <a:cxnLst/>
            <a:rect l="l" t="t" r="r" b="b"/>
            <a:pathLst>
              <a:path w="7122345" h="8229600">
                <a:moveTo>
                  <a:pt x="0" y="0"/>
                </a:moveTo>
                <a:lnTo>
                  <a:pt x="7122344" y="0"/>
                </a:lnTo>
                <a:lnTo>
                  <a:pt x="712234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TextBox 6"/>
          <p:cNvSpPr txBox="1"/>
          <p:nvPr/>
        </p:nvSpPr>
        <p:spPr>
          <a:xfrm>
            <a:off x="7815710" y="800100"/>
            <a:ext cx="10771879" cy="3641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37"/>
              </a:lnSpc>
            </a:pPr>
            <a:r>
              <a:rPr lang="en-US" sz="10383" dirty="0">
                <a:solidFill>
                  <a:srgbClr val="54243E"/>
                </a:solidFill>
                <a:latin typeface="Bobby Jones"/>
                <a:ea typeface="Bobby Jones"/>
                <a:cs typeface="Bobby Jones"/>
                <a:sym typeface="Bobby Jones"/>
              </a:rPr>
              <a:t>Calorease</a:t>
            </a:r>
          </a:p>
          <a:p>
            <a:pPr algn="ctr">
              <a:lnSpc>
                <a:spcPts val="14537"/>
              </a:lnSpc>
              <a:spcBef>
                <a:spcPct val="0"/>
              </a:spcBef>
            </a:pPr>
            <a:endParaRPr lang="en-US" sz="10383" dirty="0">
              <a:solidFill>
                <a:srgbClr val="54243E"/>
              </a:solidFill>
              <a:latin typeface="Bobby Jones"/>
              <a:ea typeface="Bobby Jones"/>
              <a:cs typeface="Bobby Jones"/>
              <a:sym typeface="Bobby Jone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448800" y="2446717"/>
            <a:ext cx="7772400" cy="5601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21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54243E"/>
                </a:solidFill>
                <a:latin typeface="Blinker Bold"/>
                <a:ea typeface="Blinker Bold"/>
                <a:cs typeface="Blinker Bold"/>
                <a:sym typeface="Blinker Bold"/>
              </a:rPr>
              <a:t>Fitness and Dietary Tracking System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305021" y="4510780"/>
            <a:ext cx="5647263" cy="3888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5"/>
              </a:lnSpc>
            </a:pPr>
            <a:r>
              <a:rPr lang="en-US" sz="2800" b="1" dirty="0">
                <a:solidFill>
                  <a:srgbClr val="54243E"/>
                </a:solidFill>
                <a:latin typeface="Blinker Bold"/>
                <a:ea typeface="Blinker Bold"/>
                <a:cs typeface="Blinker Bold"/>
                <a:sym typeface="Blinker Bold"/>
              </a:rPr>
              <a:t>Submitted by: </a:t>
            </a:r>
          </a:p>
          <a:p>
            <a:pPr algn="just">
              <a:lnSpc>
                <a:spcPts val="3355"/>
              </a:lnSpc>
            </a:pPr>
            <a:r>
              <a:rPr lang="en-US" sz="2397" b="1" dirty="0">
                <a:solidFill>
                  <a:srgbClr val="54243E"/>
                </a:solidFill>
                <a:latin typeface="Blinker Bold"/>
                <a:ea typeface="Blinker Bold"/>
                <a:cs typeface="Blinker Bold"/>
                <a:sym typeface="Blinker Bold"/>
              </a:rPr>
              <a:t>                              Venkata Naveen Aduri</a:t>
            </a:r>
          </a:p>
          <a:p>
            <a:pPr algn="just">
              <a:lnSpc>
                <a:spcPts val="3355"/>
              </a:lnSpc>
            </a:pPr>
            <a:r>
              <a:rPr lang="en-US" sz="2397" b="1" dirty="0">
                <a:solidFill>
                  <a:srgbClr val="54243E"/>
                </a:solidFill>
                <a:latin typeface="Blinker Bold"/>
                <a:ea typeface="Blinker Bold"/>
                <a:cs typeface="Blinker Bold"/>
                <a:sym typeface="Blinker Bold"/>
              </a:rPr>
              <a:t>                              Devaki Tella</a:t>
            </a:r>
          </a:p>
          <a:p>
            <a:pPr algn="just">
              <a:lnSpc>
                <a:spcPts val="3355"/>
              </a:lnSpc>
            </a:pPr>
            <a:r>
              <a:rPr lang="en-US" sz="2397" b="1" dirty="0">
                <a:solidFill>
                  <a:srgbClr val="54243E"/>
                </a:solidFill>
                <a:latin typeface="Blinker Bold"/>
                <a:ea typeface="Blinker Bold"/>
                <a:cs typeface="Blinker Bold"/>
                <a:sym typeface="Blinker Bold"/>
              </a:rPr>
              <a:t>                              Sai Hemanth Mallam</a:t>
            </a:r>
          </a:p>
          <a:p>
            <a:pPr algn="just">
              <a:lnSpc>
                <a:spcPts val="3355"/>
              </a:lnSpc>
            </a:pPr>
            <a:r>
              <a:rPr lang="en-US" sz="2397" b="1" dirty="0">
                <a:solidFill>
                  <a:srgbClr val="54243E"/>
                </a:solidFill>
                <a:latin typeface="Blinker Bold"/>
                <a:ea typeface="Blinker Bold"/>
                <a:cs typeface="Blinker Bold"/>
                <a:sym typeface="Blinker Bold"/>
              </a:rPr>
              <a:t>                              Lokesh Chowdary Jasti</a:t>
            </a:r>
          </a:p>
          <a:p>
            <a:pPr algn="just">
              <a:lnSpc>
                <a:spcPts val="3355"/>
              </a:lnSpc>
            </a:pPr>
            <a:r>
              <a:rPr lang="en-US" sz="2397" b="1" dirty="0">
                <a:solidFill>
                  <a:srgbClr val="54243E"/>
                </a:solidFill>
                <a:latin typeface="Blinker Bold"/>
                <a:ea typeface="Blinker Bold"/>
                <a:cs typeface="Blinker Bold"/>
                <a:sym typeface="Blinker Bold"/>
              </a:rPr>
              <a:t>                              Sushma Sri Bujula</a:t>
            </a:r>
          </a:p>
          <a:p>
            <a:pPr algn="just">
              <a:lnSpc>
                <a:spcPts val="3355"/>
              </a:lnSpc>
            </a:pPr>
            <a:r>
              <a:rPr lang="en-US" sz="2397" b="1" dirty="0">
                <a:solidFill>
                  <a:srgbClr val="54243E"/>
                </a:solidFill>
                <a:latin typeface="Blinker Bold"/>
                <a:ea typeface="Blinker Bold"/>
                <a:cs typeface="Blinker Bold"/>
                <a:sym typeface="Blinker Bold"/>
              </a:rPr>
              <a:t>                              Santhoshini Goskula</a:t>
            </a:r>
          </a:p>
          <a:p>
            <a:pPr algn="just">
              <a:lnSpc>
                <a:spcPts val="3355"/>
              </a:lnSpc>
            </a:pPr>
            <a:endParaRPr lang="en-US" sz="2397" b="1" dirty="0">
              <a:solidFill>
                <a:srgbClr val="54243E"/>
              </a:solidFill>
              <a:latin typeface="Blinker Bold"/>
              <a:ea typeface="Blinker Bold"/>
              <a:cs typeface="Blinker Bold"/>
              <a:sym typeface="Blinker Bold"/>
            </a:endParaRPr>
          </a:p>
          <a:p>
            <a:pPr algn="just">
              <a:lnSpc>
                <a:spcPts val="3355"/>
              </a:lnSpc>
              <a:spcBef>
                <a:spcPct val="0"/>
              </a:spcBef>
            </a:pPr>
            <a:endParaRPr lang="en-US" sz="2397" b="1" dirty="0">
              <a:solidFill>
                <a:srgbClr val="54243E"/>
              </a:solidFill>
              <a:latin typeface="Blinker Bold"/>
              <a:ea typeface="Blinker Bold"/>
              <a:cs typeface="Blinker Bold"/>
              <a:sym typeface="Blinker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3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8426662"/>
            <a:ext cx="18288000" cy="2785594"/>
            <a:chOff x="0" y="0"/>
            <a:chExt cx="5043647" cy="73365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43647" cy="733654"/>
            </a:xfrm>
            <a:custGeom>
              <a:avLst/>
              <a:gdLst/>
              <a:ahLst/>
              <a:cxnLst/>
              <a:rect l="l" t="t" r="r" b="b"/>
              <a:pathLst>
                <a:path w="5043647" h="733654">
                  <a:moveTo>
                    <a:pt x="0" y="0"/>
                  </a:moveTo>
                  <a:lnTo>
                    <a:pt x="5043647" y="0"/>
                  </a:lnTo>
                  <a:lnTo>
                    <a:pt x="5043647" y="733654"/>
                  </a:lnTo>
                  <a:lnTo>
                    <a:pt x="0" y="733654"/>
                  </a:lnTo>
                  <a:close/>
                </a:path>
              </a:pathLst>
            </a:custGeom>
            <a:solidFill>
              <a:srgbClr val="54243E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5043647" cy="7908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5" name="Freeform 5"/>
          <p:cNvSpPr/>
          <p:nvPr/>
        </p:nvSpPr>
        <p:spPr>
          <a:xfrm>
            <a:off x="706763" y="239390"/>
            <a:ext cx="5107681" cy="8095748"/>
          </a:xfrm>
          <a:custGeom>
            <a:avLst/>
            <a:gdLst/>
            <a:ahLst/>
            <a:cxnLst/>
            <a:rect l="l" t="t" r="r" b="b"/>
            <a:pathLst>
              <a:path w="5107681" h="8095748">
                <a:moveTo>
                  <a:pt x="0" y="0"/>
                </a:moveTo>
                <a:lnTo>
                  <a:pt x="5107681" y="0"/>
                </a:lnTo>
                <a:lnTo>
                  <a:pt x="5107681" y="8095749"/>
                </a:lnTo>
                <a:lnTo>
                  <a:pt x="0" y="80957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TextBox 6"/>
          <p:cNvSpPr txBox="1"/>
          <p:nvPr/>
        </p:nvSpPr>
        <p:spPr>
          <a:xfrm>
            <a:off x="5034061" y="876300"/>
            <a:ext cx="12225239" cy="1229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18"/>
              </a:lnSpc>
              <a:spcBef>
                <a:spcPct val="0"/>
              </a:spcBef>
            </a:pPr>
            <a:r>
              <a:rPr lang="en-US" sz="7084" dirty="0">
                <a:solidFill>
                  <a:srgbClr val="54243E"/>
                </a:solidFill>
                <a:latin typeface="Bobby Jones"/>
                <a:ea typeface="Bobby Jones"/>
                <a:cs typeface="Bobby Jones"/>
                <a:sym typeface="Bobby Jones"/>
              </a:rPr>
              <a:t>Introduction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266838" y="2849995"/>
            <a:ext cx="9992462" cy="4948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4"/>
              </a:lnSpc>
            </a:pPr>
            <a:r>
              <a:rPr lang="en-US" sz="2810" b="1" dirty="0">
                <a:solidFill>
                  <a:srgbClr val="54243E"/>
                </a:solidFill>
                <a:latin typeface="Blinker Bold"/>
                <a:ea typeface="Blinker Bold"/>
                <a:cs typeface="Blinker Bold"/>
                <a:sym typeface="Blinker Bold"/>
              </a:rPr>
              <a:t>What is Calorease?</a:t>
            </a:r>
          </a:p>
          <a:p>
            <a:pPr marL="606680" lvl="1" indent="-303340" algn="l">
              <a:lnSpc>
                <a:spcPts val="3934"/>
              </a:lnSpc>
              <a:buFont typeface="Arial"/>
              <a:buChar char="•"/>
            </a:pPr>
            <a:r>
              <a:rPr lang="en-US" sz="2810" dirty="0">
                <a:solidFill>
                  <a:srgbClr val="54243E"/>
                </a:solidFill>
                <a:latin typeface="Blinker"/>
                <a:ea typeface="Blinker"/>
                <a:cs typeface="Blinker"/>
                <a:sym typeface="Blinker"/>
              </a:rPr>
              <a:t>A fitness and dietary tracking application aimed at helping users maintain a healthy lifestyle.</a:t>
            </a:r>
          </a:p>
          <a:p>
            <a:pPr algn="l">
              <a:lnSpc>
                <a:spcPts val="3934"/>
              </a:lnSpc>
            </a:pPr>
            <a:endParaRPr lang="en-US" sz="2810" dirty="0">
              <a:solidFill>
                <a:srgbClr val="54243E"/>
              </a:solidFill>
              <a:latin typeface="Blinker"/>
              <a:ea typeface="Blinker"/>
              <a:cs typeface="Blinker"/>
              <a:sym typeface="Blinker"/>
            </a:endParaRPr>
          </a:p>
          <a:p>
            <a:pPr algn="l">
              <a:lnSpc>
                <a:spcPts val="3934"/>
              </a:lnSpc>
            </a:pPr>
            <a:r>
              <a:rPr lang="en-US" sz="2810" b="1" dirty="0">
                <a:solidFill>
                  <a:srgbClr val="54243E"/>
                </a:solidFill>
                <a:latin typeface="Blinker Bold"/>
                <a:ea typeface="Blinker Bold"/>
                <a:cs typeface="Blinker Bold"/>
                <a:sym typeface="Blinker Bold"/>
              </a:rPr>
              <a:t>Purpose:</a:t>
            </a:r>
          </a:p>
          <a:p>
            <a:pPr marL="606680" lvl="1" indent="-303340" algn="l">
              <a:lnSpc>
                <a:spcPts val="3934"/>
              </a:lnSpc>
              <a:buFont typeface="Arial"/>
              <a:buChar char="•"/>
            </a:pPr>
            <a:r>
              <a:rPr lang="en-US" sz="2810" dirty="0">
                <a:solidFill>
                  <a:srgbClr val="54243E"/>
                </a:solidFill>
                <a:latin typeface="Blinker"/>
                <a:ea typeface="Blinker"/>
                <a:cs typeface="Blinker"/>
                <a:sym typeface="Blinker"/>
              </a:rPr>
              <a:t>Simplify fitness tracking by offering tools for logging workouts, meals, and weight trends.</a:t>
            </a:r>
          </a:p>
          <a:p>
            <a:pPr marL="606680" lvl="1" indent="-303340" algn="l">
              <a:lnSpc>
                <a:spcPts val="3934"/>
              </a:lnSpc>
              <a:buFont typeface="Arial"/>
              <a:buChar char="•"/>
            </a:pPr>
            <a:r>
              <a:rPr lang="en-US" sz="2810" dirty="0">
                <a:solidFill>
                  <a:srgbClr val="54243E"/>
                </a:solidFill>
                <a:latin typeface="Blinker"/>
                <a:ea typeface="Blinker"/>
                <a:cs typeface="Blinker"/>
                <a:sym typeface="Blinker"/>
              </a:rPr>
              <a:t>Provide visual data insights for better decision-making.</a:t>
            </a:r>
          </a:p>
          <a:p>
            <a:pPr algn="l">
              <a:lnSpc>
                <a:spcPts val="3934"/>
              </a:lnSpc>
              <a:spcBef>
                <a:spcPct val="0"/>
              </a:spcBef>
            </a:pPr>
            <a:endParaRPr lang="en-US" sz="2810" dirty="0">
              <a:solidFill>
                <a:srgbClr val="54243E"/>
              </a:solidFill>
              <a:latin typeface="Blinker"/>
              <a:ea typeface="Blinker"/>
              <a:cs typeface="Blinker"/>
              <a:sym typeface="Blinker"/>
            </a:endParaRPr>
          </a:p>
          <a:p>
            <a:pPr algn="l">
              <a:lnSpc>
                <a:spcPts val="3934"/>
              </a:lnSpc>
              <a:spcBef>
                <a:spcPct val="0"/>
              </a:spcBef>
            </a:pPr>
            <a:endParaRPr lang="en-US" sz="2810" dirty="0">
              <a:solidFill>
                <a:srgbClr val="54243E"/>
              </a:solidFill>
              <a:latin typeface="Blinker"/>
              <a:ea typeface="Blinker"/>
              <a:cs typeface="Blinker"/>
              <a:sym typeface="Blink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3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271994" y="82167"/>
            <a:ext cx="11684523" cy="2952998"/>
          </a:xfrm>
          <a:custGeom>
            <a:avLst/>
            <a:gdLst/>
            <a:ahLst/>
            <a:cxnLst/>
            <a:rect l="l" t="t" r="r" b="b"/>
            <a:pathLst>
              <a:path w="11684523" h="2952998">
                <a:moveTo>
                  <a:pt x="0" y="0"/>
                </a:moveTo>
                <a:lnTo>
                  <a:pt x="11684522" y="0"/>
                </a:lnTo>
                <a:lnTo>
                  <a:pt x="11684522" y="2952998"/>
                </a:lnTo>
                <a:lnTo>
                  <a:pt x="0" y="29529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8426662"/>
            <a:ext cx="18288000" cy="2785594"/>
            <a:chOff x="0" y="0"/>
            <a:chExt cx="4816593" cy="73365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733654"/>
            </a:xfrm>
            <a:custGeom>
              <a:avLst/>
              <a:gdLst/>
              <a:ahLst/>
              <a:cxnLst/>
              <a:rect l="l" t="t" r="r" b="b"/>
              <a:pathLst>
                <a:path w="4816592" h="733654">
                  <a:moveTo>
                    <a:pt x="0" y="0"/>
                  </a:moveTo>
                  <a:lnTo>
                    <a:pt x="4816592" y="0"/>
                  </a:lnTo>
                  <a:lnTo>
                    <a:pt x="4816592" y="733654"/>
                  </a:lnTo>
                  <a:lnTo>
                    <a:pt x="0" y="733654"/>
                  </a:lnTo>
                  <a:close/>
                </a:path>
              </a:pathLst>
            </a:custGeom>
            <a:solidFill>
              <a:srgbClr val="54243E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816593" cy="7908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76415" y="3187945"/>
            <a:ext cx="1413823" cy="141382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A694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124018" y="5143500"/>
            <a:ext cx="1413823" cy="141382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A694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710890" y="2968855"/>
            <a:ext cx="1413823" cy="1413823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A694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5297762" y="4705350"/>
            <a:ext cx="1413823" cy="1413823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A694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18" name="Freeform 18"/>
          <p:cNvSpPr/>
          <p:nvPr/>
        </p:nvSpPr>
        <p:spPr>
          <a:xfrm>
            <a:off x="16199076" y="0"/>
            <a:ext cx="2088924" cy="2088924"/>
          </a:xfrm>
          <a:custGeom>
            <a:avLst/>
            <a:gdLst/>
            <a:ahLst/>
            <a:cxnLst/>
            <a:rect l="l" t="t" r="r" b="b"/>
            <a:pathLst>
              <a:path w="2088924" h="2088924">
                <a:moveTo>
                  <a:pt x="0" y="0"/>
                </a:moveTo>
                <a:lnTo>
                  <a:pt x="2088924" y="0"/>
                </a:lnTo>
                <a:lnTo>
                  <a:pt x="2088924" y="2088924"/>
                </a:lnTo>
                <a:lnTo>
                  <a:pt x="0" y="20889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9" name="TextBox 19"/>
          <p:cNvSpPr txBox="1"/>
          <p:nvPr/>
        </p:nvSpPr>
        <p:spPr>
          <a:xfrm>
            <a:off x="838200" y="1621342"/>
            <a:ext cx="16535400" cy="11607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18"/>
              </a:lnSpc>
              <a:spcBef>
                <a:spcPct val="0"/>
              </a:spcBef>
            </a:pPr>
            <a:r>
              <a:rPr lang="en-US" sz="7084" dirty="0">
                <a:solidFill>
                  <a:srgbClr val="54243E"/>
                </a:solidFill>
                <a:latin typeface="Bobby Jones"/>
                <a:ea typeface="Bobby Jones"/>
                <a:cs typeface="Bobby Jones"/>
                <a:sym typeface="Bobby Jones"/>
              </a:rPr>
              <a:t>Project Goals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0" y="4819864"/>
            <a:ext cx="4566653" cy="174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54243E"/>
                </a:solidFill>
                <a:latin typeface="Blinker"/>
                <a:ea typeface="Blinker"/>
                <a:cs typeface="Blinker"/>
                <a:sym typeface="Blinker"/>
              </a:rPr>
              <a:t>Provide users with an integrated platform to track workouts, dietary intake, and progress, encouraging a healthier lifestyle. 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47603" y="6775418"/>
            <a:ext cx="4566653" cy="1308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54243E"/>
                </a:solidFill>
                <a:latin typeface="Blinker"/>
                <a:ea typeface="Blinker"/>
                <a:cs typeface="Blinker"/>
                <a:sym typeface="Blinker"/>
              </a:rPr>
              <a:t>Allow users to easily log fitness and diet data, with visual tools to analyze trends over time.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134475" y="4600773"/>
            <a:ext cx="4566653" cy="218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54243E"/>
                </a:solidFill>
                <a:latin typeface="Blinker"/>
                <a:ea typeface="Blinker"/>
                <a:cs typeface="Blinker"/>
                <a:sym typeface="Blinker"/>
              </a:rPr>
              <a:t>Deliver a seamless user experience through intuitive interfaces for logging, editing, and visualizing fitness and dietary data. 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endParaRPr lang="en-US" sz="2499" dirty="0">
              <a:solidFill>
                <a:srgbClr val="54243E"/>
              </a:solidFill>
              <a:latin typeface="Blinker"/>
              <a:ea typeface="Blinker"/>
              <a:cs typeface="Blinker"/>
              <a:sym typeface="Blinker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604593" y="3203783"/>
            <a:ext cx="1357467" cy="1229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18"/>
              </a:lnSpc>
              <a:spcBef>
                <a:spcPct val="0"/>
              </a:spcBef>
            </a:pPr>
            <a:r>
              <a:rPr lang="en-US" sz="7084" dirty="0">
                <a:solidFill>
                  <a:srgbClr val="54243E"/>
                </a:solidFill>
                <a:latin typeface="Bobby Jones"/>
                <a:ea typeface="Bobby Jones"/>
                <a:cs typeface="Bobby Jones"/>
                <a:sym typeface="Bobby Jones"/>
              </a:rPr>
              <a:t>01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152196" y="5159337"/>
            <a:ext cx="1357467" cy="1229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18"/>
              </a:lnSpc>
              <a:spcBef>
                <a:spcPct val="0"/>
              </a:spcBef>
            </a:pPr>
            <a:r>
              <a:rPr lang="en-US" sz="7084" dirty="0">
                <a:solidFill>
                  <a:srgbClr val="54243E"/>
                </a:solidFill>
                <a:latin typeface="Bobby Jones"/>
                <a:ea typeface="Bobby Jones"/>
                <a:cs typeface="Bobby Jones"/>
                <a:sym typeface="Bobby Jones"/>
              </a:rPr>
              <a:t>02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739068" y="2984692"/>
            <a:ext cx="1357467" cy="1229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18"/>
              </a:lnSpc>
              <a:spcBef>
                <a:spcPct val="0"/>
              </a:spcBef>
            </a:pPr>
            <a:r>
              <a:rPr lang="en-US" sz="7084" dirty="0">
                <a:solidFill>
                  <a:srgbClr val="54243E"/>
                </a:solidFill>
                <a:latin typeface="Bobby Jones"/>
                <a:ea typeface="Bobby Jones"/>
                <a:cs typeface="Bobby Jones"/>
                <a:sym typeface="Bobby Jones"/>
              </a:rPr>
              <a:t>03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721347" y="6337268"/>
            <a:ext cx="4566653" cy="174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54243E"/>
                </a:solidFill>
                <a:latin typeface="Blinker"/>
                <a:ea typeface="Blinker"/>
                <a:cs typeface="Blinker"/>
                <a:sym typeface="Blinker"/>
              </a:rPr>
              <a:t>Implement robust validation, user authentication, and secure storage for personal and fitness-related information. 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325940" y="4721187"/>
            <a:ext cx="1357467" cy="1229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18"/>
              </a:lnSpc>
              <a:spcBef>
                <a:spcPct val="0"/>
              </a:spcBef>
            </a:pPr>
            <a:r>
              <a:rPr lang="en-US" sz="7084" dirty="0">
                <a:solidFill>
                  <a:srgbClr val="54243E"/>
                </a:solidFill>
                <a:latin typeface="Bobby Jones"/>
                <a:ea typeface="Bobby Jones"/>
                <a:cs typeface="Bobby Jones"/>
                <a:sym typeface="Bobby Jones"/>
              </a:rPr>
              <a:t>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3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9367" y="3765693"/>
            <a:ext cx="2805930" cy="4030446"/>
            <a:chOff x="0" y="0"/>
            <a:chExt cx="3133810" cy="45014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33810" cy="4501414"/>
            </a:xfrm>
            <a:custGeom>
              <a:avLst/>
              <a:gdLst/>
              <a:ahLst/>
              <a:cxnLst/>
              <a:rect l="l" t="t" r="r" b="b"/>
              <a:pathLst>
                <a:path w="3133810" h="4501414">
                  <a:moveTo>
                    <a:pt x="3009350" y="4501414"/>
                  </a:moveTo>
                  <a:lnTo>
                    <a:pt x="124460" y="4501414"/>
                  </a:lnTo>
                  <a:cubicBezTo>
                    <a:pt x="55880" y="4501414"/>
                    <a:pt x="0" y="4445534"/>
                    <a:pt x="0" y="437695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009350" y="0"/>
                  </a:lnTo>
                  <a:cubicBezTo>
                    <a:pt x="3077930" y="0"/>
                    <a:pt x="3133810" y="55880"/>
                    <a:pt x="3133810" y="124460"/>
                  </a:cubicBezTo>
                  <a:lnTo>
                    <a:pt x="3133810" y="4376954"/>
                  </a:lnTo>
                  <a:cubicBezTo>
                    <a:pt x="3133810" y="4445534"/>
                    <a:pt x="3077930" y="4501414"/>
                    <a:pt x="3009350" y="4501414"/>
                  </a:cubicBezTo>
                  <a:close/>
                </a:path>
              </a:pathLst>
            </a:custGeom>
            <a:solidFill>
              <a:srgbClr val="54243E"/>
            </a:solidFill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135398" y="3765693"/>
            <a:ext cx="2805930" cy="4030446"/>
            <a:chOff x="0" y="0"/>
            <a:chExt cx="3133810" cy="45014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133810" cy="4501414"/>
            </a:xfrm>
            <a:custGeom>
              <a:avLst/>
              <a:gdLst/>
              <a:ahLst/>
              <a:cxnLst/>
              <a:rect l="l" t="t" r="r" b="b"/>
              <a:pathLst>
                <a:path w="3133810" h="4501414">
                  <a:moveTo>
                    <a:pt x="3009350" y="4501414"/>
                  </a:moveTo>
                  <a:lnTo>
                    <a:pt x="124460" y="4501414"/>
                  </a:lnTo>
                  <a:cubicBezTo>
                    <a:pt x="55880" y="4501414"/>
                    <a:pt x="0" y="4445534"/>
                    <a:pt x="0" y="437695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009350" y="0"/>
                  </a:lnTo>
                  <a:cubicBezTo>
                    <a:pt x="3077930" y="0"/>
                    <a:pt x="3133810" y="55880"/>
                    <a:pt x="3133810" y="124460"/>
                  </a:cubicBezTo>
                  <a:lnTo>
                    <a:pt x="3133810" y="4376954"/>
                  </a:lnTo>
                  <a:cubicBezTo>
                    <a:pt x="3133810" y="4445534"/>
                    <a:pt x="3077930" y="4501414"/>
                    <a:pt x="3009350" y="4501414"/>
                  </a:cubicBezTo>
                  <a:close/>
                </a:path>
              </a:pathLst>
            </a:custGeom>
            <a:solidFill>
              <a:srgbClr val="54243E"/>
            </a:solidFill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741428" y="3765693"/>
            <a:ext cx="2805930" cy="4030446"/>
            <a:chOff x="0" y="0"/>
            <a:chExt cx="3133810" cy="450141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133810" cy="4501414"/>
            </a:xfrm>
            <a:custGeom>
              <a:avLst/>
              <a:gdLst/>
              <a:ahLst/>
              <a:cxnLst/>
              <a:rect l="l" t="t" r="r" b="b"/>
              <a:pathLst>
                <a:path w="3133810" h="4501414">
                  <a:moveTo>
                    <a:pt x="3009350" y="4501414"/>
                  </a:moveTo>
                  <a:lnTo>
                    <a:pt x="124460" y="4501414"/>
                  </a:lnTo>
                  <a:cubicBezTo>
                    <a:pt x="55880" y="4501414"/>
                    <a:pt x="0" y="4445534"/>
                    <a:pt x="0" y="437695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009350" y="0"/>
                  </a:lnTo>
                  <a:cubicBezTo>
                    <a:pt x="3077930" y="0"/>
                    <a:pt x="3133810" y="55880"/>
                    <a:pt x="3133810" y="124460"/>
                  </a:cubicBezTo>
                  <a:lnTo>
                    <a:pt x="3133810" y="4376954"/>
                  </a:lnTo>
                  <a:cubicBezTo>
                    <a:pt x="3133810" y="4445534"/>
                    <a:pt x="3077930" y="4501414"/>
                    <a:pt x="3009350" y="4501414"/>
                  </a:cubicBezTo>
                  <a:close/>
                </a:path>
              </a:pathLst>
            </a:custGeom>
            <a:solidFill>
              <a:srgbClr val="54243E"/>
            </a:solidFill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347458" y="3765693"/>
            <a:ext cx="2805930" cy="4030446"/>
            <a:chOff x="0" y="0"/>
            <a:chExt cx="3133810" cy="45014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133810" cy="4501414"/>
            </a:xfrm>
            <a:custGeom>
              <a:avLst/>
              <a:gdLst/>
              <a:ahLst/>
              <a:cxnLst/>
              <a:rect l="l" t="t" r="r" b="b"/>
              <a:pathLst>
                <a:path w="3133810" h="4501414">
                  <a:moveTo>
                    <a:pt x="3009350" y="4501414"/>
                  </a:moveTo>
                  <a:lnTo>
                    <a:pt x="124460" y="4501414"/>
                  </a:lnTo>
                  <a:cubicBezTo>
                    <a:pt x="55880" y="4501414"/>
                    <a:pt x="0" y="4445534"/>
                    <a:pt x="0" y="437695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009350" y="0"/>
                  </a:lnTo>
                  <a:cubicBezTo>
                    <a:pt x="3077930" y="0"/>
                    <a:pt x="3133810" y="55880"/>
                    <a:pt x="3133810" y="124460"/>
                  </a:cubicBezTo>
                  <a:lnTo>
                    <a:pt x="3133810" y="4376954"/>
                  </a:lnTo>
                  <a:cubicBezTo>
                    <a:pt x="3133810" y="4445534"/>
                    <a:pt x="3077930" y="4501414"/>
                    <a:pt x="3009350" y="4501414"/>
                  </a:cubicBezTo>
                  <a:close/>
                </a:path>
              </a:pathLst>
            </a:custGeom>
            <a:solidFill>
              <a:srgbClr val="54243E"/>
            </a:solidFill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829394" y="3765693"/>
            <a:ext cx="2805930" cy="4030446"/>
            <a:chOff x="0" y="0"/>
            <a:chExt cx="3133810" cy="450141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133810" cy="4501414"/>
            </a:xfrm>
            <a:custGeom>
              <a:avLst/>
              <a:gdLst/>
              <a:ahLst/>
              <a:cxnLst/>
              <a:rect l="l" t="t" r="r" b="b"/>
              <a:pathLst>
                <a:path w="3133810" h="4501414">
                  <a:moveTo>
                    <a:pt x="3009350" y="4501414"/>
                  </a:moveTo>
                  <a:lnTo>
                    <a:pt x="124460" y="4501414"/>
                  </a:lnTo>
                  <a:cubicBezTo>
                    <a:pt x="55880" y="4501414"/>
                    <a:pt x="0" y="4445534"/>
                    <a:pt x="0" y="437695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009350" y="0"/>
                  </a:lnTo>
                  <a:cubicBezTo>
                    <a:pt x="3077930" y="0"/>
                    <a:pt x="3133810" y="55880"/>
                    <a:pt x="3133810" y="124460"/>
                  </a:cubicBezTo>
                  <a:lnTo>
                    <a:pt x="3133810" y="4376954"/>
                  </a:lnTo>
                  <a:cubicBezTo>
                    <a:pt x="3133810" y="4445534"/>
                    <a:pt x="3077930" y="4501414"/>
                    <a:pt x="3009350" y="4501414"/>
                  </a:cubicBezTo>
                  <a:close/>
                </a:path>
              </a:pathLst>
            </a:custGeom>
            <a:solidFill>
              <a:srgbClr val="54243E"/>
            </a:solid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12" name="Freeform 12"/>
          <p:cNvSpPr/>
          <p:nvPr/>
        </p:nvSpPr>
        <p:spPr>
          <a:xfrm>
            <a:off x="16237044" y="0"/>
            <a:ext cx="1992777" cy="2367229"/>
          </a:xfrm>
          <a:custGeom>
            <a:avLst/>
            <a:gdLst/>
            <a:ahLst/>
            <a:cxnLst/>
            <a:rect l="l" t="t" r="r" b="b"/>
            <a:pathLst>
              <a:path w="1992777" h="2367229">
                <a:moveTo>
                  <a:pt x="0" y="0"/>
                </a:moveTo>
                <a:lnTo>
                  <a:pt x="1992776" y="0"/>
                </a:lnTo>
                <a:lnTo>
                  <a:pt x="1992776" y="2367229"/>
                </a:lnTo>
                <a:lnTo>
                  <a:pt x="0" y="23672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3" name="TextBox 13"/>
          <p:cNvSpPr txBox="1"/>
          <p:nvPr/>
        </p:nvSpPr>
        <p:spPr>
          <a:xfrm>
            <a:off x="831827" y="4157217"/>
            <a:ext cx="2208196" cy="1336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81"/>
              </a:lnSpc>
              <a:spcBef>
                <a:spcPct val="0"/>
              </a:spcBef>
            </a:pPr>
            <a:r>
              <a:rPr lang="en-US" sz="2754" dirty="0">
                <a:solidFill>
                  <a:srgbClr val="FFE3DD"/>
                </a:solidFill>
                <a:latin typeface="Bobby Jones"/>
                <a:ea typeface="Bobby Jones"/>
                <a:cs typeface="Bobby Jones"/>
                <a:sym typeface="Bobby Jones"/>
              </a:rPr>
              <a:t>User Registration and Login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31827" y="6095399"/>
            <a:ext cx="1903396" cy="1168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11"/>
              </a:lnSpc>
              <a:spcBef>
                <a:spcPct val="0"/>
              </a:spcBef>
            </a:pPr>
            <a:r>
              <a:rPr lang="en-US" sz="2074" dirty="0">
                <a:solidFill>
                  <a:srgbClr val="FFE3DD"/>
                </a:solidFill>
                <a:latin typeface="Blinker"/>
                <a:ea typeface="Blinker"/>
                <a:cs typeface="Blinker"/>
                <a:sym typeface="Blinker"/>
              </a:rPr>
              <a:t>Create and manage user accounts.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440042" y="4157217"/>
            <a:ext cx="2206010" cy="888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83"/>
              </a:lnSpc>
              <a:spcBef>
                <a:spcPct val="0"/>
              </a:spcBef>
            </a:pPr>
            <a:r>
              <a:rPr lang="en-US" sz="2756" dirty="0">
                <a:solidFill>
                  <a:srgbClr val="FFE3DD"/>
                </a:solidFill>
                <a:latin typeface="Bobby Jones"/>
                <a:ea typeface="Bobby Jones"/>
                <a:cs typeface="Bobby Jones"/>
                <a:sym typeface="Bobby Jones"/>
              </a:rPr>
              <a:t>Profile Management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138132" y="808902"/>
            <a:ext cx="14094227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n-US" sz="8000" dirty="0">
                <a:solidFill>
                  <a:srgbClr val="54243E"/>
                </a:solidFill>
                <a:latin typeface="Bobby Jones"/>
                <a:ea typeface="Bobby Jones"/>
                <a:cs typeface="Bobby Jones"/>
                <a:sym typeface="Bobby Jones"/>
              </a:rPr>
              <a:t>Features Overview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437857" y="5704716"/>
            <a:ext cx="2208196" cy="1559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05"/>
              </a:lnSpc>
              <a:spcBef>
                <a:spcPct val="0"/>
              </a:spcBef>
            </a:pPr>
            <a:r>
              <a:rPr lang="en-US" sz="2070" dirty="0">
                <a:solidFill>
                  <a:srgbClr val="FFE3DD"/>
                </a:solidFill>
                <a:latin typeface="Blinker"/>
                <a:ea typeface="Blinker"/>
                <a:cs typeface="Blinker"/>
                <a:sym typeface="Blinker"/>
              </a:rPr>
              <a:t>Update weight, change passwords, and delete accounts.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043887" y="4157217"/>
            <a:ext cx="2208196" cy="888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81"/>
              </a:lnSpc>
              <a:spcBef>
                <a:spcPct val="0"/>
              </a:spcBef>
            </a:pPr>
            <a:r>
              <a:rPr lang="en-US" sz="2754" dirty="0">
                <a:solidFill>
                  <a:srgbClr val="FFE3DD"/>
                </a:solidFill>
                <a:latin typeface="Bobby Jones"/>
                <a:ea typeface="Bobby Jones"/>
                <a:cs typeface="Bobby Jones"/>
                <a:sym typeface="Bobby Jones"/>
              </a:rPr>
              <a:t>Workout Tracking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67712" y="5314270"/>
            <a:ext cx="1903396" cy="2340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11"/>
              </a:lnSpc>
              <a:spcBef>
                <a:spcPct val="0"/>
              </a:spcBef>
            </a:pPr>
            <a:r>
              <a:rPr lang="en-US" sz="2074" dirty="0">
                <a:solidFill>
                  <a:srgbClr val="FFE3DD"/>
                </a:solidFill>
                <a:latin typeface="Blinker"/>
                <a:ea typeface="Blinker"/>
                <a:cs typeface="Blinker"/>
                <a:sym typeface="Blinker"/>
              </a:rPr>
              <a:t>Log and manage workouts with details like calories burned and workout type.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652103" y="4157217"/>
            <a:ext cx="2206010" cy="888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83"/>
              </a:lnSpc>
              <a:spcBef>
                <a:spcPct val="0"/>
              </a:spcBef>
            </a:pPr>
            <a:r>
              <a:rPr lang="en-US" sz="2756" dirty="0">
                <a:solidFill>
                  <a:srgbClr val="FFE3DD"/>
                </a:solidFill>
                <a:latin typeface="Bobby Jones"/>
                <a:ea typeface="Bobby Jones"/>
                <a:cs typeface="Bobby Jones"/>
                <a:sym typeface="Bobby Jones"/>
              </a:rPr>
              <a:t>Dietary Tracking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649917" y="5704716"/>
            <a:ext cx="2208196" cy="1559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05"/>
              </a:lnSpc>
              <a:spcBef>
                <a:spcPct val="0"/>
              </a:spcBef>
            </a:pPr>
            <a:r>
              <a:rPr lang="en-US" sz="2070" dirty="0">
                <a:solidFill>
                  <a:srgbClr val="FFE3DD"/>
                </a:solidFill>
                <a:latin typeface="Blinker"/>
                <a:ea typeface="Blinker"/>
                <a:cs typeface="Blinker"/>
                <a:sym typeface="Blinker"/>
              </a:rPr>
              <a:t>Record meals with nutritional details like calories, protein, and servings.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134038" y="4157217"/>
            <a:ext cx="2206010" cy="441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83"/>
              </a:lnSpc>
              <a:spcBef>
                <a:spcPct val="0"/>
              </a:spcBef>
            </a:pPr>
            <a:r>
              <a:rPr lang="en-US" sz="2756" dirty="0">
                <a:solidFill>
                  <a:srgbClr val="FFE3DD"/>
                </a:solidFill>
                <a:latin typeface="Bobby Jones"/>
                <a:ea typeface="Bobby Jones"/>
                <a:cs typeface="Bobby Jones"/>
                <a:sym typeface="Bobby Jones"/>
              </a:rPr>
              <a:t>Visualization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131853" y="5704716"/>
            <a:ext cx="2208196" cy="1559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05"/>
              </a:lnSpc>
              <a:spcBef>
                <a:spcPct val="0"/>
              </a:spcBef>
            </a:pPr>
            <a:r>
              <a:rPr lang="en-US" sz="2070" dirty="0">
                <a:solidFill>
                  <a:srgbClr val="FFE3DD"/>
                </a:solidFill>
                <a:latin typeface="Blinker"/>
                <a:ea typeface="Blinker"/>
                <a:cs typeface="Blinker"/>
                <a:sym typeface="Blinker"/>
              </a:rPr>
              <a:t>Graphs for workout trends, dietary patterns, and weight progress.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3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87869" y="4139120"/>
            <a:ext cx="15562757" cy="7476111"/>
            <a:chOff x="0" y="0"/>
            <a:chExt cx="4098833" cy="19690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98833" cy="1969017"/>
            </a:xfrm>
            <a:custGeom>
              <a:avLst/>
              <a:gdLst/>
              <a:ahLst/>
              <a:cxnLst/>
              <a:rect l="l" t="t" r="r" b="b"/>
              <a:pathLst>
                <a:path w="4098833" h="1969017">
                  <a:moveTo>
                    <a:pt x="49746" y="0"/>
                  </a:moveTo>
                  <a:lnTo>
                    <a:pt x="4049087" y="0"/>
                  </a:lnTo>
                  <a:cubicBezTo>
                    <a:pt x="4076561" y="0"/>
                    <a:pt x="4098833" y="22272"/>
                    <a:pt x="4098833" y="49746"/>
                  </a:cubicBezTo>
                  <a:lnTo>
                    <a:pt x="4098833" y="1919270"/>
                  </a:lnTo>
                  <a:cubicBezTo>
                    <a:pt x="4098833" y="1932464"/>
                    <a:pt x="4093592" y="1945117"/>
                    <a:pt x="4084263" y="1954446"/>
                  </a:cubicBezTo>
                  <a:cubicBezTo>
                    <a:pt x="4074933" y="1963776"/>
                    <a:pt x="4062280" y="1969017"/>
                    <a:pt x="4049087" y="1969017"/>
                  </a:cubicBezTo>
                  <a:lnTo>
                    <a:pt x="49746" y="1969017"/>
                  </a:lnTo>
                  <a:cubicBezTo>
                    <a:pt x="36553" y="1969017"/>
                    <a:pt x="23900" y="1963776"/>
                    <a:pt x="14570" y="1954446"/>
                  </a:cubicBezTo>
                  <a:cubicBezTo>
                    <a:pt x="5241" y="1945117"/>
                    <a:pt x="0" y="1932464"/>
                    <a:pt x="0" y="1919270"/>
                  </a:cubicBezTo>
                  <a:lnTo>
                    <a:pt x="0" y="49746"/>
                  </a:lnTo>
                  <a:cubicBezTo>
                    <a:pt x="0" y="36553"/>
                    <a:pt x="5241" y="23900"/>
                    <a:pt x="14570" y="14570"/>
                  </a:cubicBezTo>
                  <a:cubicBezTo>
                    <a:pt x="23900" y="5241"/>
                    <a:pt x="36553" y="0"/>
                    <a:pt x="49746" y="0"/>
                  </a:cubicBezTo>
                  <a:close/>
                </a:path>
              </a:pathLst>
            </a:custGeom>
            <a:solidFill>
              <a:srgbClr val="54243E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4098833" cy="20356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34"/>
                </a:lnSpc>
              </a:pPr>
              <a:endParaRPr dirty="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512333" y="4786485"/>
            <a:ext cx="4638289" cy="823372"/>
            <a:chOff x="0" y="0"/>
            <a:chExt cx="1221607" cy="21685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21607" cy="216855"/>
            </a:xfrm>
            <a:custGeom>
              <a:avLst/>
              <a:gdLst/>
              <a:ahLst/>
              <a:cxnLst/>
              <a:rect l="l" t="t" r="r" b="b"/>
              <a:pathLst>
                <a:path w="1221607" h="216855">
                  <a:moveTo>
                    <a:pt x="108428" y="0"/>
                  </a:moveTo>
                  <a:lnTo>
                    <a:pt x="1113180" y="0"/>
                  </a:lnTo>
                  <a:cubicBezTo>
                    <a:pt x="1141936" y="0"/>
                    <a:pt x="1169515" y="11424"/>
                    <a:pt x="1189849" y="31758"/>
                  </a:cubicBezTo>
                  <a:cubicBezTo>
                    <a:pt x="1210183" y="52092"/>
                    <a:pt x="1221607" y="79671"/>
                    <a:pt x="1221607" y="108428"/>
                  </a:cubicBezTo>
                  <a:lnTo>
                    <a:pt x="1221607" y="108428"/>
                  </a:lnTo>
                  <a:cubicBezTo>
                    <a:pt x="1221607" y="168311"/>
                    <a:pt x="1173062" y="216855"/>
                    <a:pt x="1113180" y="216855"/>
                  </a:cubicBezTo>
                  <a:lnTo>
                    <a:pt x="108428" y="216855"/>
                  </a:lnTo>
                  <a:cubicBezTo>
                    <a:pt x="79671" y="216855"/>
                    <a:pt x="52092" y="205432"/>
                    <a:pt x="31758" y="185098"/>
                  </a:cubicBezTo>
                  <a:cubicBezTo>
                    <a:pt x="11424" y="164763"/>
                    <a:pt x="0" y="137184"/>
                    <a:pt x="0" y="108428"/>
                  </a:cubicBezTo>
                  <a:lnTo>
                    <a:pt x="0" y="108428"/>
                  </a:lnTo>
                  <a:cubicBezTo>
                    <a:pt x="0" y="79671"/>
                    <a:pt x="11424" y="52092"/>
                    <a:pt x="31758" y="31758"/>
                  </a:cubicBezTo>
                  <a:cubicBezTo>
                    <a:pt x="52092" y="11424"/>
                    <a:pt x="79671" y="0"/>
                    <a:pt x="108428" y="0"/>
                  </a:cubicBezTo>
                  <a:close/>
                </a:path>
              </a:pathLst>
            </a:custGeom>
            <a:solidFill>
              <a:srgbClr val="54243E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1221607" cy="283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93"/>
                </a:lnSpc>
              </a:pPr>
              <a:r>
                <a:rPr lang="en-US" sz="3209" b="1" dirty="0">
                  <a:solidFill>
                    <a:srgbClr val="F0A694"/>
                  </a:solidFill>
                  <a:latin typeface="Blinker Bold"/>
                  <a:ea typeface="Blinker Bold"/>
                  <a:cs typeface="Blinker Bold"/>
                  <a:sym typeface="Blinker Bold"/>
                </a:rPr>
                <a:t>Signup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074183" y="7690471"/>
            <a:ext cx="4638289" cy="823372"/>
            <a:chOff x="0" y="0"/>
            <a:chExt cx="1221607" cy="21685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21607" cy="216855"/>
            </a:xfrm>
            <a:custGeom>
              <a:avLst/>
              <a:gdLst/>
              <a:ahLst/>
              <a:cxnLst/>
              <a:rect l="l" t="t" r="r" b="b"/>
              <a:pathLst>
                <a:path w="1221607" h="216855">
                  <a:moveTo>
                    <a:pt x="108428" y="0"/>
                  </a:moveTo>
                  <a:lnTo>
                    <a:pt x="1113180" y="0"/>
                  </a:lnTo>
                  <a:cubicBezTo>
                    <a:pt x="1141936" y="0"/>
                    <a:pt x="1169515" y="11424"/>
                    <a:pt x="1189849" y="31758"/>
                  </a:cubicBezTo>
                  <a:cubicBezTo>
                    <a:pt x="1210183" y="52092"/>
                    <a:pt x="1221607" y="79671"/>
                    <a:pt x="1221607" y="108428"/>
                  </a:cubicBezTo>
                  <a:lnTo>
                    <a:pt x="1221607" y="108428"/>
                  </a:lnTo>
                  <a:cubicBezTo>
                    <a:pt x="1221607" y="168311"/>
                    <a:pt x="1173062" y="216855"/>
                    <a:pt x="1113180" y="216855"/>
                  </a:cubicBezTo>
                  <a:lnTo>
                    <a:pt x="108428" y="216855"/>
                  </a:lnTo>
                  <a:cubicBezTo>
                    <a:pt x="79671" y="216855"/>
                    <a:pt x="52092" y="205432"/>
                    <a:pt x="31758" y="185098"/>
                  </a:cubicBezTo>
                  <a:cubicBezTo>
                    <a:pt x="11424" y="164763"/>
                    <a:pt x="0" y="137184"/>
                    <a:pt x="0" y="108428"/>
                  </a:cubicBezTo>
                  <a:lnTo>
                    <a:pt x="0" y="108428"/>
                  </a:lnTo>
                  <a:cubicBezTo>
                    <a:pt x="0" y="79671"/>
                    <a:pt x="11424" y="52092"/>
                    <a:pt x="31758" y="31758"/>
                  </a:cubicBezTo>
                  <a:cubicBezTo>
                    <a:pt x="52092" y="11424"/>
                    <a:pt x="79671" y="0"/>
                    <a:pt x="108428" y="0"/>
                  </a:cubicBezTo>
                  <a:close/>
                </a:path>
              </a:pathLst>
            </a:custGeom>
            <a:solidFill>
              <a:srgbClr val="54243E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1221607" cy="283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93"/>
                </a:lnSpc>
              </a:pPr>
              <a:r>
                <a:rPr lang="en-US" sz="3209" b="1" dirty="0">
                  <a:solidFill>
                    <a:srgbClr val="F0A694"/>
                  </a:solidFill>
                  <a:latin typeface="Blinker Bold"/>
                  <a:ea typeface="Blinker Bold"/>
                  <a:cs typeface="Blinker Bold"/>
                  <a:sym typeface="Blinker Bold"/>
                </a:rPr>
                <a:t>Navigation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712673" y="4788943"/>
            <a:ext cx="4638289" cy="823372"/>
            <a:chOff x="0" y="0"/>
            <a:chExt cx="1221607" cy="21685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21607" cy="216855"/>
            </a:xfrm>
            <a:custGeom>
              <a:avLst/>
              <a:gdLst/>
              <a:ahLst/>
              <a:cxnLst/>
              <a:rect l="l" t="t" r="r" b="b"/>
              <a:pathLst>
                <a:path w="1221607" h="216855">
                  <a:moveTo>
                    <a:pt x="108428" y="0"/>
                  </a:moveTo>
                  <a:lnTo>
                    <a:pt x="1113180" y="0"/>
                  </a:lnTo>
                  <a:cubicBezTo>
                    <a:pt x="1141936" y="0"/>
                    <a:pt x="1169515" y="11424"/>
                    <a:pt x="1189849" y="31758"/>
                  </a:cubicBezTo>
                  <a:cubicBezTo>
                    <a:pt x="1210183" y="52092"/>
                    <a:pt x="1221607" y="79671"/>
                    <a:pt x="1221607" y="108428"/>
                  </a:cubicBezTo>
                  <a:lnTo>
                    <a:pt x="1221607" y="108428"/>
                  </a:lnTo>
                  <a:cubicBezTo>
                    <a:pt x="1221607" y="168311"/>
                    <a:pt x="1173062" y="216855"/>
                    <a:pt x="1113180" y="216855"/>
                  </a:cubicBezTo>
                  <a:lnTo>
                    <a:pt x="108428" y="216855"/>
                  </a:lnTo>
                  <a:cubicBezTo>
                    <a:pt x="79671" y="216855"/>
                    <a:pt x="52092" y="205432"/>
                    <a:pt x="31758" y="185098"/>
                  </a:cubicBezTo>
                  <a:cubicBezTo>
                    <a:pt x="11424" y="164763"/>
                    <a:pt x="0" y="137184"/>
                    <a:pt x="0" y="108428"/>
                  </a:cubicBezTo>
                  <a:lnTo>
                    <a:pt x="0" y="108428"/>
                  </a:lnTo>
                  <a:cubicBezTo>
                    <a:pt x="0" y="79671"/>
                    <a:pt x="11424" y="52092"/>
                    <a:pt x="31758" y="31758"/>
                  </a:cubicBezTo>
                  <a:cubicBezTo>
                    <a:pt x="52092" y="11424"/>
                    <a:pt x="79671" y="0"/>
                    <a:pt x="108428" y="0"/>
                  </a:cubicBezTo>
                  <a:close/>
                </a:path>
              </a:pathLst>
            </a:custGeom>
            <a:solidFill>
              <a:srgbClr val="54243E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1221607" cy="283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93"/>
                </a:lnSpc>
              </a:pPr>
              <a:r>
                <a:rPr lang="en-US" sz="3209" b="1" dirty="0">
                  <a:solidFill>
                    <a:srgbClr val="F0A694"/>
                  </a:solidFill>
                  <a:latin typeface="Blinker Bold"/>
                  <a:ea typeface="Blinker Bold"/>
                  <a:cs typeface="Blinker Bold"/>
                  <a:sym typeface="Blinker Bold"/>
                </a:rPr>
                <a:t>Login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127986" y="7690471"/>
            <a:ext cx="4638289" cy="823372"/>
            <a:chOff x="0" y="0"/>
            <a:chExt cx="1221607" cy="21685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21607" cy="216855"/>
            </a:xfrm>
            <a:custGeom>
              <a:avLst/>
              <a:gdLst/>
              <a:ahLst/>
              <a:cxnLst/>
              <a:rect l="l" t="t" r="r" b="b"/>
              <a:pathLst>
                <a:path w="1221607" h="216855">
                  <a:moveTo>
                    <a:pt x="108428" y="0"/>
                  </a:moveTo>
                  <a:lnTo>
                    <a:pt x="1113180" y="0"/>
                  </a:lnTo>
                  <a:cubicBezTo>
                    <a:pt x="1141936" y="0"/>
                    <a:pt x="1169515" y="11424"/>
                    <a:pt x="1189849" y="31758"/>
                  </a:cubicBezTo>
                  <a:cubicBezTo>
                    <a:pt x="1210183" y="52092"/>
                    <a:pt x="1221607" y="79671"/>
                    <a:pt x="1221607" y="108428"/>
                  </a:cubicBezTo>
                  <a:lnTo>
                    <a:pt x="1221607" y="108428"/>
                  </a:lnTo>
                  <a:cubicBezTo>
                    <a:pt x="1221607" y="168311"/>
                    <a:pt x="1173062" y="216855"/>
                    <a:pt x="1113180" y="216855"/>
                  </a:cubicBezTo>
                  <a:lnTo>
                    <a:pt x="108428" y="216855"/>
                  </a:lnTo>
                  <a:cubicBezTo>
                    <a:pt x="79671" y="216855"/>
                    <a:pt x="52092" y="205432"/>
                    <a:pt x="31758" y="185098"/>
                  </a:cubicBezTo>
                  <a:cubicBezTo>
                    <a:pt x="11424" y="164763"/>
                    <a:pt x="0" y="137184"/>
                    <a:pt x="0" y="108428"/>
                  </a:cubicBezTo>
                  <a:lnTo>
                    <a:pt x="0" y="108428"/>
                  </a:lnTo>
                  <a:cubicBezTo>
                    <a:pt x="0" y="79671"/>
                    <a:pt x="11424" y="52092"/>
                    <a:pt x="31758" y="31758"/>
                  </a:cubicBezTo>
                  <a:cubicBezTo>
                    <a:pt x="52092" y="11424"/>
                    <a:pt x="79671" y="0"/>
                    <a:pt x="108428" y="0"/>
                  </a:cubicBezTo>
                  <a:close/>
                </a:path>
              </a:pathLst>
            </a:custGeom>
            <a:solidFill>
              <a:srgbClr val="54243E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1221607" cy="283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93"/>
                </a:lnSpc>
              </a:pPr>
              <a:r>
                <a:rPr lang="en-US" sz="3209" b="1" dirty="0">
                  <a:solidFill>
                    <a:srgbClr val="F0A694"/>
                  </a:solidFill>
                  <a:latin typeface="Blinker Bold"/>
                  <a:ea typeface="Blinker Bold"/>
                  <a:cs typeface="Blinker Bold"/>
                  <a:sym typeface="Blinker Bold"/>
                </a:rPr>
                <a:t>Data Management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5512333" y="5602791"/>
            <a:ext cx="5785027" cy="126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810" dirty="0">
                <a:solidFill>
                  <a:srgbClr val="F0A694"/>
                </a:solidFill>
                <a:latin typeface="Blinker"/>
                <a:ea typeface="Blinker"/>
                <a:cs typeface="Blinker"/>
                <a:sym typeface="Blinker"/>
              </a:rPr>
              <a:t>Users register by entering their personal details (name, email, height, weight, etc.).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512333" y="8504318"/>
            <a:ext cx="4638289" cy="126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810" dirty="0">
                <a:solidFill>
                  <a:srgbClr val="F0A694"/>
                </a:solidFill>
                <a:latin typeface="Blinker"/>
                <a:ea typeface="Blinker"/>
                <a:cs typeface="Blinker"/>
                <a:sym typeface="Blinker"/>
              </a:rPr>
              <a:t>The Home Page provides options to go to User, Workout, Dietary, or Visualization pages.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184600" y="5602791"/>
            <a:ext cx="4638289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810" dirty="0">
                <a:solidFill>
                  <a:srgbClr val="F0A694"/>
                </a:solidFill>
                <a:latin typeface="Blinker"/>
                <a:ea typeface="Blinker"/>
                <a:cs typeface="Blinker"/>
                <a:sym typeface="Blinker"/>
              </a:rPr>
              <a:t>Users access the system with their email and password.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388997" y="8504318"/>
            <a:ext cx="4638289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810" dirty="0">
                <a:solidFill>
                  <a:srgbClr val="F0A694"/>
                </a:solidFill>
                <a:latin typeface="Blinker"/>
                <a:ea typeface="Blinker"/>
                <a:cs typeface="Blinker"/>
                <a:sym typeface="Blinker"/>
              </a:rPr>
              <a:t>Users can add, edit, or delete data in each section.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-580001" y="1028700"/>
            <a:ext cx="5654184" cy="5654184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6766275" y="2796945"/>
            <a:ext cx="2684351" cy="2684351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66F5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22918" y="7209956"/>
            <a:ext cx="2048344" cy="2048344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19125" cap="sq">
              <a:solidFill>
                <a:srgbClr val="D66F54"/>
              </a:solidFill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2247091" y="1074226"/>
            <a:ext cx="16040909" cy="1229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18"/>
              </a:lnSpc>
              <a:spcBef>
                <a:spcPct val="0"/>
              </a:spcBef>
            </a:pPr>
            <a:r>
              <a:rPr lang="en-US" sz="7084" dirty="0">
                <a:solidFill>
                  <a:srgbClr val="54243E"/>
                </a:solidFill>
                <a:latin typeface="Bobby Jones"/>
                <a:ea typeface="Bobby Jones"/>
                <a:cs typeface="Bobby Jones"/>
                <a:sym typeface="Bobby Jones"/>
              </a:rPr>
              <a:t>User workflow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3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344005" y="5704183"/>
            <a:ext cx="7816631" cy="4006023"/>
          </a:xfrm>
          <a:custGeom>
            <a:avLst/>
            <a:gdLst/>
            <a:ahLst/>
            <a:cxnLst/>
            <a:rect l="l" t="t" r="r" b="b"/>
            <a:pathLst>
              <a:path w="7816631" h="4006023">
                <a:moveTo>
                  <a:pt x="0" y="0"/>
                </a:moveTo>
                <a:lnTo>
                  <a:pt x="7816631" y="0"/>
                </a:lnTo>
                <a:lnTo>
                  <a:pt x="7816631" y="4006023"/>
                </a:lnTo>
                <a:lnTo>
                  <a:pt x="0" y="40060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9245340" y="2726323"/>
            <a:ext cx="8013960" cy="2203839"/>
          </a:xfrm>
          <a:custGeom>
            <a:avLst/>
            <a:gdLst/>
            <a:ahLst/>
            <a:cxnLst/>
            <a:rect l="l" t="t" r="r" b="b"/>
            <a:pathLst>
              <a:path w="8013960" h="2203839">
                <a:moveTo>
                  <a:pt x="0" y="0"/>
                </a:moveTo>
                <a:lnTo>
                  <a:pt x="8013960" y="0"/>
                </a:lnTo>
                <a:lnTo>
                  <a:pt x="8013960" y="2203839"/>
                </a:lnTo>
                <a:lnTo>
                  <a:pt x="0" y="22038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TextBox 4"/>
          <p:cNvSpPr txBox="1"/>
          <p:nvPr/>
        </p:nvSpPr>
        <p:spPr>
          <a:xfrm>
            <a:off x="1028700" y="337626"/>
            <a:ext cx="16040909" cy="1229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18"/>
              </a:lnSpc>
              <a:spcBef>
                <a:spcPct val="0"/>
              </a:spcBef>
            </a:pPr>
            <a:r>
              <a:rPr lang="en-US" sz="7084" dirty="0">
                <a:solidFill>
                  <a:srgbClr val="54243E"/>
                </a:solidFill>
                <a:latin typeface="Bobby Jones"/>
                <a:ea typeface="Bobby Jones"/>
                <a:cs typeface="Bobby Jones"/>
                <a:sym typeface="Bobby Jones"/>
              </a:rPr>
              <a:t>User interface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27369" y="3399617"/>
            <a:ext cx="7816631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2"/>
              </a:lnSpc>
              <a:spcBef>
                <a:spcPct val="0"/>
              </a:spcBef>
            </a:pPr>
            <a:r>
              <a:rPr lang="en-US" sz="2810" dirty="0">
                <a:solidFill>
                  <a:srgbClr val="54243E"/>
                </a:solidFill>
                <a:latin typeface="Blinker"/>
                <a:ea typeface="Blinker"/>
                <a:cs typeface="Blinker"/>
                <a:sym typeface="Blinker"/>
              </a:rPr>
              <a:t>Dashboard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442669" y="1926223"/>
            <a:ext cx="7816631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2"/>
              </a:lnSpc>
              <a:spcBef>
                <a:spcPct val="0"/>
              </a:spcBef>
            </a:pPr>
            <a:r>
              <a:rPr lang="en-US" sz="2810" dirty="0">
                <a:solidFill>
                  <a:srgbClr val="54243E"/>
                </a:solidFill>
                <a:latin typeface="Blinker"/>
                <a:ea typeface="Blinker"/>
                <a:cs typeface="Blinker"/>
                <a:sym typeface="Blinker"/>
              </a:rPr>
              <a:t>Login Page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44005" y="5098097"/>
            <a:ext cx="7816631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2"/>
              </a:lnSpc>
              <a:spcBef>
                <a:spcPct val="0"/>
              </a:spcBef>
            </a:pPr>
            <a:r>
              <a:rPr lang="en-US" sz="2810" dirty="0">
                <a:solidFill>
                  <a:srgbClr val="54243E"/>
                </a:solidFill>
                <a:latin typeface="Blinker"/>
                <a:ea typeface="Blinker"/>
                <a:cs typeface="Blinker"/>
                <a:sym typeface="Blinker"/>
              </a:rPr>
              <a:t>Signup Page</a:t>
            </a:r>
          </a:p>
        </p:txBody>
      </p:sp>
      <p:sp>
        <p:nvSpPr>
          <p:cNvPr id="8" name="Freeform 8"/>
          <p:cNvSpPr/>
          <p:nvPr/>
        </p:nvSpPr>
        <p:spPr>
          <a:xfrm>
            <a:off x="1648961" y="4157308"/>
            <a:ext cx="7400194" cy="3747132"/>
          </a:xfrm>
          <a:custGeom>
            <a:avLst/>
            <a:gdLst/>
            <a:ahLst/>
            <a:cxnLst/>
            <a:rect l="l" t="t" r="r" b="b"/>
            <a:pathLst>
              <a:path w="7400194" h="3747132">
                <a:moveTo>
                  <a:pt x="0" y="0"/>
                </a:moveTo>
                <a:lnTo>
                  <a:pt x="7400194" y="0"/>
                </a:lnTo>
                <a:lnTo>
                  <a:pt x="7400194" y="3747132"/>
                </a:lnTo>
                <a:lnTo>
                  <a:pt x="0" y="37471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643" r="-5643"/>
            </a:stretch>
          </a:blipFill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3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43101" y="3683771"/>
            <a:ext cx="1521363" cy="1521363"/>
            <a:chOff x="0" y="0"/>
            <a:chExt cx="400688" cy="4006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0688" cy="400688"/>
            </a:xfrm>
            <a:custGeom>
              <a:avLst/>
              <a:gdLst/>
              <a:ahLst/>
              <a:cxnLst/>
              <a:rect l="l" t="t" r="r" b="b"/>
              <a:pathLst>
                <a:path w="400688" h="400688">
                  <a:moveTo>
                    <a:pt x="127220" y="0"/>
                  </a:moveTo>
                  <a:lnTo>
                    <a:pt x="273468" y="0"/>
                  </a:lnTo>
                  <a:cubicBezTo>
                    <a:pt x="307209" y="0"/>
                    <a:pt x="339568" y="13404"/>
                    <a:pt x="363426" y="37262"/>
                  </a:cubicBezTo>
                  <a:cubicBezTo>
                    <a:pt x="387285" y="61120"/>
                    <a:pt x="400688" y="93479"/>
                    <a:pt x="400688" y="127220"/>
                  </a:cubicBezTo>
                  <a:lnTo>
                    <a:pt x="400688" y="273468"/>
                  </a:lnTo>
                  <a:cubicBezTo>
                    <a:pt x="400688" y="343730"/>
                    <a:pt x="343730" y="400688"/>
                    <a:pt x="273468" y="400688"/>
                  </a:cubicBezTo>
                  <a:lnTo>
                    <a:pt x="127220" y="400688"/>
                  </a:lnTo>
                  <a:cubicBezTo>
                    <a:pt x="56958" y="400688"/>
                    <a:pt x="0" y="343730"/>
                    <a:pt x="0" y="273468"/>
                  </a:cubicBezTo>
                  <a:lnTo>
                    <a:pt x="0" y="127220"/>
                  </a:lnTo>
                  <a:cubicBezTo>
                    <a:pt x="0" y="56958"/>
                    <a:pt x="56958" y="0"/>
                    <a:pt x="12722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400688" cy="4673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34"/>
                </a:lnSpc>
              </a:pPr>
              <a:endParaRPr dirty="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68690" y="3683771"/>
            <a:ext cx="1521363" cy="1521363"/>
            <a:chOff x="0" y="0"/>
            <a:chExt cx="400688" cy="4006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00688" cy="400688"/>
            </a:xfrm>
            <a:custGeom>
              <a:avLst/>
              <a:gdLst/>
              <a:ahLst/>
              <a:cxnLst/>
              <a:rect l="l" t="t" r="r" b="b"/>
              <a:pathLst>
                <a:path w="400688" h="400688">
                  <a:moveTo>
                    <a:pt x="127220" y="0"/>
                  </a:moveTo>
                  <a:lnTo>
                    <a:pt x="273468" y="0"/>
                  </a:lnTo>
                  <a:cubicBezTo>
                    <a:pt x="307209" y="0"/>
                    <a:pt x="339568" y="13404"/>
                    <a:pt x="363426" y="37262"/>
                  </a:cubicBezTo>
                  <a:cubicBezTo>
                    <a:pt x="387285" y="61120"/>
                    <a:pt x="400688" y="93479"/>
                    <a:pt x="400688" y="127220"/>
                  </a:cubicBezTo>
                  <a:lnTo>
                    <a:pt x="400688" y="273468"/>
                  </a:lnTo>
                  <a:cubicBezTo>
                    <a:pt x="400688" y="343730"/>
                    <a:pt x="343730" y="400688"/>
                    <a:pt x="273468" y="400688"/>
                  </a:cubicBezTo>
                  <a:lnTo>
                    <a:pt x="127220" y="400688"/>
                  </a:lnTo>
                  <a:cubicBezTo>
                    <a:pt x="56958" y="400688"/>
                    <a:pt x="0" y="343730"/>
                    <a:pt x="0" y="273468"/>
                  </a:cubicBezTo>
                  <a:lnTo>
                    <a:pt x="0" y="127220"/>
                  </a:lnTo>
                  <a:cubicBezTo>
                    <a:pt x="0" y="56958"/>
                    <a:pt x="56958" y="0"/>
                    <a:pt x="12722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400688" cy="4673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34"/>
                </a:lnSpc>
              </a:pPr>
              <a:endParaRPr dirty="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515437" y="6095248"/>
            <a:ext cx="1521363" cy="1521363"/>
            <a:chOff x="0" y="0"/>
            <a:chExt cx="400688" cy="4006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00688" cy="400688"/>
            </a:xfrm>
            <a:custGeom>
              <a:avLst/>
              <a:gdLst/>
              <a:ahLst/>
              <a:cxnLst/>
              <a:rect l="l" t="t" r="r" b="b"/>
              <a:pathLst>
                <a:path w="400688" h="400688">
                  <a:moveTo>
                    <a:pt x="127220" y="0"/>
                  </a:moveTo>
                  <a:lnTo>
                    <a:pt x="273468" y="0"/>
                  </a:lnTo>
                  <a:cubicBezTo>
                    <a:pt x="307209" y="0"/>
                    <a:pt x="339568" y="13404"/>
                    <a:pt x="363426" y="37262"/>
                  </a:cubicBezTo>
                  <a:cubicBezTo>
                    <a:pt x="387285" y="61120"/>
                    <a:pt x="400688" y="93479"/>
                    <a:pt x="400688" y="127220"/>
                  </a:cubicBezTo>
                  <a:lnTo>
                    <a:pt x="400688" y="273468"/>
                  </a:lnTo>
                  <a:cubicBezTo>
                    <a:pt x="400688" y="343730"/>
                    <a:pt x="343730" y="400688"/>
                    <a:pt x="273468" y="400688"/>
                  </a:cubicBezTo>
                  <a:lnTo>
                    <a:pt x="127220" y="400688"/>
                  </a:lnTo>
                  <a:cubicBezTo>
                    <a:pt x="56958" y="400688"/>
                    <a:pt x="0" y="343730"/>
                    <a:pt x="0" y="273468"/>
                  </a:cubicBezTo>
                  <a:lnTo>
                    <a:pt x="0" y="127220"/>
                  </a:lnTo>
                  <a:cubicBezTo>
                    <a:pt x="0" y="56958"/>
                    <a:pt x="56958" y="0"/>
                    <a:pt x="12722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400688" cy="4673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34"/>
                </a:lnSpc>
              </a:pPr>
              <a:endParaRPr dirty="0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949994" y="4143686"/>
            <a:ext cx="705547" cy="705547"/>
          </a:xfrm>
          <a:custGeom>
            <a:avLst/>
            <a:gdLst/>
            <a:ahLst/>
            <a:cxnLst/>
            <a:rect l="l" t="t" r="r" b="b"/>
            <a:pathLst>
              <a:path w="705547" h="705547">
                <a:moveTo>
                  <a:pt x="0" y="0"/>
                </a:moveTo>
                <a:lnTo>
                  <a:pt x="705547" y="0"/>
                </a:lnTo>
                <a:lnTo>
                  <a:pt x="705547" y="705547"/>
                </a:lnTo>
                <a:lnTo>
                  <a:pt x="0" y="7055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2" name="Freeform 12"/>
          <p:cNvSpPr/>
          <p:nvPr/>
        </p:nvSpPr>
        <p:spPr>
          <a:xfrm>
            <a:off x="9659395" y="4062051"/>
            <a:ext cx="739952" cy="787183"/>
          </a:xfrm>
          <a:custGeom>
            <a:avLst/>
            <a:gdLst/>
            <a:ahLst/>
            <a:cxnLst/>
            <a:rect l="l" t="t" r="r" b="b"/>
            <a:pathLst>
              <a:path w="739952" h="787183">
                <a:moveTo>
                  <a:pt x="0" y="0"/>
                </a:moveTo>
                <a:lnTo>
                  <a:pt x="739952" y="0"/>
                </a:lnTo>
                <a:lnTo>
                  <a:pt x="739952" y="787182"/>
                </a:lnTo>
                <a:lnTo>
                  <a:pt x="0" y="7871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3" name="Freeform 13"/>
          <p:cNvSpPr/>
          <p:nvPr/>
        </p:nvSpPr>
        <p:spPr>
          <a:xfrm>
            <a:off x="5803755" y="6526993"/>
            <a:ext cx="944725" cy="657872"/>
          </a:xfrm>
          <a:custGeom>
            <a:avLst/>
            <a:gdLst/>
            <a:ahLst/>
            <a:cxnLst/>
            <a:rect l="l" t="t" r="r" b="b"/>
            <a:pathLst>
              <a:path w="944725" h="657872">
                <a:moveTo>
                  <a:pt x="0" y="0"/>
                </a:moveTo>
                <a:lnTo>
                  <a:pt x="944726" y="0"/>
                </a:lnTo>
                <a:lnTo>
                  <a:pt x="944726" y="657873"/>
                </a:lnTo>
                <a:lnTo>
                  <a:pt x="0" y="6578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4" name="Freeform 14"/>
          <p:cNvSpPr/>
          <p:nvPr/>
        </p:nvSpPr>
        <p:spPr>
          <a:xfrm>
            <a:off x="15935472" y="0"/>
            <a:ext cx="2352528" cy="2352528"/>
          </a:xfrm>
          <a:custGeom>
            <a:avLst/>
            <a:gdLst/>
            <a:ahLst/>
            <a:cxnLst/>
            <a:rect l="l" t="t" r="r" b="b"/>
            <a:pathLst>
              <a:path w="2352528" h="2352528">
                <a:moveTo>
                  <a:pt x="0" y="0"/>
                </a:moveTo>
                <a:lnTo>
                  <a:pt x="2352528" y="0"/>
                </a:lnTo>
                <a:lnTo>
                  <a:pt x="2352528" y="2352528"/>
                </a:lnTo>
                <a:lnTo>
                  <a:pt x="0" y="23525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5" name="TextBox 15"/>
          <p:cNvSpPr txBox="1"/>
          <p:nvPr/>
        </p:nvSpPr>
        <p:spPr>
          <a:xfrm>
            <a:off x="3388966" y="4286484"/>
            <a:ext cx="5024575" cy="126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810" dirty="0">
                <a:solidFill>
                  <a:srgbClr val="54243E"/>
                </a:solidFill>
                <a:latin typeface="Blinker"/>
                <a:ea typeface="Blinker"/>
                <a:cs typeface="Blinker"/>
                <a:sym typeface="Blinker"/>
              </a:rPr>
              <a:t>Eat nutritious foods such as fruits, vegetables, proteins, and whole grains.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388966" y="3545532"/>
            <a:ext cx="4733019" cy="738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0"/>
              </a:lnSpc>
            </a:pPr>
            <a:r>
              <a:rPr lang="en-US" sz="2810" b="1" dirty="0">
                <a:solidFill>
                  <a:srgbClr val="54243E"/>
                </a:solidFill>
                <a:latin typeface="Blinker Bold"/>
                <a:ea typeface="Blinker Bold"/>
                <a:cs typeface="Blinker Bold"/>
                <a:sym typeface="Blinker Bold"/>
              </a:rPr>
              <a:t>EDIT PERSONAL </a:t>
            </a:r>
          </a:p>
          <a:p>
            <a:pPr marL="0" lvl="0" indent="0" algn="ctr">
              <a:lnSpc>
                <a:spcPts val="2810"/>
              </a:lnSpc>
            </a:pPr>
            <a:r>
              <a:rPr lang="en-US" sz="2810" b="1" dirty="0">
                <a:solidFill>
                  <a:srgbClr val="54243E"/>
                </a:solidFill>
                <a:latin typeface="Blinker Bold"/>
                <a:ea typeface="Blinker Bold"/>
                <a:cs typeface="Blinker Bold"/>
                <a:sym typeface="Blinker Bold"/>
              </a:rPr>
              <a:t>INFORMATION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132952" y="4286484"/>
            <a:ext cx="4205862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810" dirty="0">
                <a:solidFill>
                  <a:srgbClr val="54243E"/>
                </a:solidFill>
                <a:latin typeface="Blinker"/>
                <a:ea typeface="Blinker"/>
                <a:cs typeface="Blinker"/>
                <a:sym typeface="Blinker"/>
              </a:rPr>
              <a:t>Aim for 7-9 hours of sleep per night.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132952" y="3721744"/>
            <a:ext cx="4388473" cy="385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10"/>
              </a:lnSpc>
            </a:pPr>
            <a:r>
              <a:rPr lang="en-US" sz="2810" b="1" dirty="0">
                <a:solidFill>
                  <a:srgbClr val="54243E"/>
                </a:solidFill>
                <a:latin typeface="Blinker Bold"/>
                <a:ea typeface="Blinker Bold"/>
                <a:cs typeface="Blinker Bold"/>
                <a:sym typeface="Blinker Bold"/>
              </a:rPr>
              <a:t>MANAGE ACCOUNT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036799" y="6768886"/>
            <a:ext cx="7549678" cy="1685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6680" lvl="1" indent="-303340" algn="l">
              <a:lnSpc>
                <a:spcPts val="3372"/>
              </a:lnSpc>
              <a:buFont typeface="Arial"/>
              <a:buChar char="•"/>
            </a:pPr>
            <a:r>
              <a:rPr lang="en-US" sz="2810" dirty="0">
                <a:solidFill>
                  <a:srgbClr val="54243E"/>
                </a:solidFill>
                <a:latin typeface="Blinker"/>
                <a:ea typeface="Blinker"/>
                <a:cs typeface="Blinker"/>
                <a:sym typeface="Blinker"/>
              </a:rPr>
              <a:t>View and manage previously logged weights.</a:t>
            </a:r>
          </a:p>
          <a:p>
            <a:pPr marL="606680" lvl="1" indent="-303340" algn="l">
              <a:lnSpc>
                <a:spcPts val="3372"/>
              </a:lnSpc>
              <a:buFont typeface="Arial"/>
              <a:buChar char="•"/>
            </a:pPr>
            <a:r>
              <a:rPr lang="en-US" sz="2810" dirty="0">
                <a:solidFill>
                  <a:srgbClr val="54243E"/>
                </a:solidFill>
                <a:latin typeface="Blinker"/>
                <a:ea typeface="Blinker"/>
                <a:cs typeface="Blinker"/>
                <a:sym typeface="Blinker"/>
              </a:rPr>
              <a:t>Add new weight entries or edit/delete existing ones.</a:t>
            </a:r>
          </a:p>
          <a:p>
            <a:pPr algn="l">
              <a:lnSpc>
                <a:spcPts val="3372"/>
              </a:lnSpc>
            </a:pPr>
            <a:endParaRPr lang="en-US" sz="2810" dirty="0">
              <a:solidFill>
                <a:srgbClr val="54243E"/>
              </a:solidFill>
              <a:latin typeface="Blinker"/>
              <a:ea typeface="Blinker"/>
              <a:cs typeface="Blinker"/>
              <a:sym typeface="Blinker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8433374" y="6141294"/>
            <a:ext cx="3931947" cy="385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10"/>
              </a:lnSpc>
            </a:pPr>
            <a:r>
              <a:rPr lang="en-US" sz="2810" b="1" dirty="0">
                <a:solidFill>
                  <a:srgbClr val="54243E"/>
                </a:solidFill>
                <a:latin typeface="Blinker Bold"/>
                <a:ea typeface="Blinker Bold"/>
                <a:cs typeface="Blinker Bold"/>
                <a:sym typeface="Blinker Bold"/>
              </a:rPr>
              <a:t>WEIGHT HISTORY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11809" y="902219"/>
            <a:ext cx="16040909" cy="1229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18"/>
              </a:lnSpc>
              <a:spcBef>
                <a:spcPct val="0"/>
              </a:spcBef>
            </a:pPr>
            <a:r>
              <a:rPr lang="en-US" sz="7084" dirty="0">
                <a:solidFill>
                  <a:srgbClr val="54243E"/>
                </a:solidFill>
                <a:latin typeface="Bobby Jones"/>
                <a:ea typeface="Bobby Jones"/>
                <a:cs typeface="Bobby Jones"/>
                <a:sym typeface="Bobby Jones"/>
              </a:rPr>
              <a:t>User Page Features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0" y="9070071"/>
            <a:ext cx="18288000" cy="2142185"/>
            <a:chOff x="0" y="0"/>
            <a:chExt cx="4816593" cy="56419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16592" cy="564197"/>
            </a:xfrm>
            <a:custGeom>
              <a:avLst/>
              <a:gdLst/>
              <a:ahLst/>
              <a:cxnLst/>
              <a:rect l="l" t="t" r="r" b="b"/>
              <a:pathLst>
                <a:path w="4816592" h="564197">
                  <a:moveTo>
                    <a:pt x="0" y="0"/>
                  </a:moveTo>
                  <a:lnTo>
                    <a:pt x="4816592" y="0"/>
                  </a:lnTo>
                  <a:lnTo>
                    <a:pt x="4816592" y="564197"/>
                  </a:lnTo>
                  <a:lnTo>
                    <a:pt x="0" y="564197"/>
                  </a:lnTo>
                  <a:close/>
                </a:path>
              </a:pathLst>
            </a:custGeom>
            <a:solidFill>
              <a:srgbClr val="54243E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57150"/>
              <a:ext cx="4816593" cy="6213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3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64940" y="3718007"/>
            <a:ext cx="1521363" cy="1521363"/>
            <a:chOff x="0" y="0"/>
            <a:chExt cx="400688" cy="4006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0688" cy="400688"/>
            </a:xfrm>
            <a:custGeom>
              <a:avLst/>
              <a:gdLst/>
              <a:ahLst/>
              <a:cxnLst/>
              <a:rect l="l" t="t" r="r" b="b"/>
              <a:pathLst>
                <a:path w="400688" h="400688">
                  <a:moveTo>
                    <a:pt x="127220" y="0"/>
                  </a:moveTo>
                  <a:lnTo>
                    <a:pt x="273468" y="0"/>
                  </a:lnTo>
                  <a:cubicBezTo>
                    <a:pt x="307209" y="0"/>
                    <a:pt x="339568" y="13404"/>
                    <a:pt x="363426" y="37262"/>
                  </a:cubicBezTo>
                  <a:cubicBezTo>
                    <a:pt x="387285" y="61120"/>
                    <a:pt x="400688" y="93479"/>
                    <a:pt x="400688" y="127220"/>
                  </a:cubicBezTo>
                  <a:lnTo>
                    <a:pt x="400688" y="273468"/>
                  </a:lnTo>
                  <a:cubicBezTo>
                    <a:pt x="400688" y="343730"/>
                    <a:pt x="343730" y="400688"/>
                    <a:pt x="273468" y="400688"/>
                  </a:cubicBezTo>
                  <a:lnTo>
                    <a:pt x="127220" y="400688"/>
                  </a:lnTo>
                  <a:cubicBezTo>
                    <a:pt x="56958" y="400688"/>
                    <a:pt x="0" y="343730"/>
                    <a:pt x="0" y="273468"/>
                  </a:cubicBezTo>
                  <a:lnTo>
                    <a:pt x="0" y="127220"/>
                  </a:lnTo>
                  <a:cubicBezTo>
                    <a:pt x="0" y="56958"/>
                    <a:pt x="56958" y="0"/>
                    <a:pt x="12722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400688" cy="4673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34"/>
                </a:lnSpc>
              </a:pPr>
              <a:endParaRPr dirty="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190529" y="3718007"/>
            <a:ext cx="1521363" cy="1521363"/>
            <a:chOff x="0" y="0"/>
            <a:chExt cx="400688" cy="4006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00688" cy="400688"/>
            </a:xfrm>
            <a:custGeom>
              <a:avLst/>
              <a:gdLst/>
              <a:ahLst/>
              <a:cxnLst/>
              <a:rect l="l" t="t" r="r" b="b"/>
              <a:pathLst>
                <a:path w="400688" h="400688">
                  <a:moveTo>
                    <a:pt x="127220" y="0"/>
                  </a:moveTo>
                  <a:lnTo>
                    <a:pt x="273468" y="0"/>
                  </a:lnTo>
                  <a:cubicBezTo>
                    <a:pt x="307209" y="0"/>
                    <a:pt x="339568" y="13404"/>
                    <a:pt x="363426" y="37262"/>
                  </a:cubicBezTo>
                  <a:cubicBezTo>
                    <a:pt x="387285" y="61120"/>
                    <a:pt x="400688" y="93479"/>
                    <a:pt x="400688" y="127220"/>
                  </a:cubicBezTo>
                  <a:lnTo>
                    <a:pt x="400688" y="273468"/>
                  </a:lnTo>
                  <a:cubicBezTo>
                    <a:pt x="400688" y="343730"/>
                    <a:pt x="343730" y="400688"/>
                    <a:pt x="273468" y="400688"/>
                  </a:cubicBezTo>
                  <a:lnTo>
                    <a:pt x="127220" y="400688"/>
                  </a:lnTo>
                  <a:cubicBezTo>
                    <a:pt x="56958" y="400688"/>
                    <a:pt x="0" y="343730"/>
                    <a:pt x="0" y="273468"/>
                  </a:cubicBezTo>
                  <a:lnTo>
                    <a:pt x="0" y="127220"/>
                  </a:lnTo>
                  <a:cubicBezTo>
                    <a:pt x="0" y="56958"/>
                    <a:pt x="56958" y="0"/>
                    <a:pt x="12722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400688" cy="4673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34"/>
                </a:lnSpc>
              </a:pPr>
              <a:endParaRPr dirty="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437275" y="6129483"/>
            <a:ext cx="1521363" cy="1521363"/>
            <a:chOff x="0" y="0"/>
            <a:chExt cx="400688" cy="4006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00688" cy="400688"/>
            </a:xfrm>
            <a:custGeom>
              <a:avLst/>
              <a:gdLst/>
              <a:ahLst/>
              <a:cxnLst/>
              <a:rect l="l" t="t" r="r" b="b"/>
              <a:pathLst>
                <a:path w="400688" h="400688">
                  <a:moveTo>
                    <a:pt x="127220" y="0"/>
                  </a:moveTo>
                  <a:lnTo>
                    <a:pt x="273468" y="0"/>
                  </a:lnTo>
                  <a:cubicBezTo>
                    <a:pt x="307209" y="0"/>
                    <a:pt x="339568" y="13404"/>
                    <a:pt x="363426" y="37262"/>
                  </a:cubicBezTo>
                  <a:cubicBezTo>
                    <a:pt x="387285" y="61120"/>
                    <a:pt x="400688" y="93479"/>
                    <a:pt x="400688" y="127220"/>
                  </a:cubicBezTo>
                  <a:lnTo>
                    <a:pt x="400688" y="273468"/>
                  </a:lnTo>
                  <a:cubicBezTo>
                    <a:pt x="400688" y="343730"/>
                    <a:pt x="343730" y="400688"/>
                    <a:pt x="273468" y="400688"/>
                  </a:cubicBezTo>
                  <a:lnTo>
                    <a:pt x="127220" y="400688"/>
                  </a:lnTo>
                  <a:cubicBezTo>
                    <a:pt x="56958" y="400688"/>
                    <a:pt x="0" y="343730"/>
                    <a:pt x="0" y="273468"/>
                  </a:cubicBezTo>
                  <a:lnTo>
                    <a:pt x="0" y="127220"/>
                  </a:lnTo>
                  <a:cubicBezTo>
                    <a:pt x="0" y="56958"/>
                    <a:pt x="56958" y="0"/>
                    <a:pt x="12722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400688" cy="4673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34"/>
                </a:lnSpc>
              </a:pPr>
              <a:endParaRPr dirty="0"/>
            </a:p>
          </p:txBody>
        </p:sp>
      </p:grpSp>
      <p:sp>
        <p:nvSpPr>
          <p:cNvPr id="11" name="Freeform 11"/>
          <p:cNvSpPr/>
          <p:nvPr/>
        </p:nvSpPr>
        <p:spPr>
          <a:xfrm>
            <a:off x="5900556" y="6636946"/>
            <a:ext cx="594800" cy="594800"/>
          </a:xfrm>
          <a:custGeom>
            <a:avLst/>
            <a:gdLst/>
            <a:ahLst/>
            <a:cxnLst/>
            <a:rect l="l" t="t" r="r" b="b"/>
            <a:pathLst>
              <a:path w="594800" h="594800">
                <a:moveTo>
                  <a:pt x="0" y="0"/>
                </a:moveTo>
                <a:lnTo>
                  <a:pt x="594801" y="0"/>
                </a:lnTo>
                <a:lnTo>
                  <a:pt x="594801" y="594800"/>
                </a:lnTo>
                <a:lnTo>
                  <a:pt x="0" y="59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12" name="Group 12"/>
          <p:cNvGrpSpPr/>
          <p:nvPr/>
        </p:nvGrpSpPr>
        <p:grpSpPr>
          <a:xfrm>
            <a:off x="0" y="9070071"/>
            <a:ext cx="18288000" cy="2142185"/>
            <a:chOff x="0" y="0"/>
            <a:chExt cx="4816593" cy="56419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816592" cy="564197"/>
            </a:xfrm>
            <a:custGeom>
              <a:avLst/>
              <a:gdLst/>
              <a:ahLst/>
              <a:cxnLst/>
              <a:rect l="l" t="t" r="r" b="b"/>
              <a:pathLst>
                <a:path w="4816592" h="564197">
                  <a:moveTo>
                    <a:pt x="0" y="0"/>
                  </a:moveTo>
                  <a:lnTo>
                    <a:pt x="4816592" y="0"/>
                  </a:lnTo>
                  <a:lnTo>
                    <a:pt x="4816592" y="564197"/>
                  </a:lnTo>
                  <a:lnTo>
                    <a:pt x="0" y="564197"/>
                  </a:lnTo>
                  <a:close/>
                </a:path>
              </a:pathLst>
            </a:custGeom>
            <a:solidFill>
              <a:srgbClr val="54243E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4816593" cy="6213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5" name="Freeform 15"/>
          <p:cNvSpPr/>
          <p:nvPr/>
        </p:nvSpPr>
        <p:spPr>
          <a:xfrm>
            <a:off x="15878976" y="7892"/>
            <a:ext cx="2409024" cy="2290762"/>
          </a:xfrm>
          <a:custGeom>
            <a:avLst/>
            <a:gdLst/>
            <a:ahLst/>
            <a:cxnLst/>
            <a:rect l="l" t="t" r="r" b="b"/>
            <a:pathLst>
              <a:path w="2409024" h="2290762">
                <a:moveTo>
                  <a:pt x="0" y="0"/>
                </a:moveTo>
                <a:lnTo>
                  <a:pt x="2409024" y="0"/>
                </a:lnTo>
                <a:lnTo>
                  <a:pt x="2409024" y="2290763"/>
                </a:lnTo>
                <a:lnTo>
                  <a:pt x="0" y="22907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6" name="Freeform 16"/>
          <p:cNvSpPr/>
          <p:nvPr/>
        </p:nvSpPr>
        <p:spPr>
          <a:xfrm>
            <a:off x="9446054" y="4245053"/>
            <a:ext cx="1010311" cy="571285"/>
          </a:xfrm>
          <a:custGeom>
            <a:avLst/>
            <a:gdLst/>
            <a:ahLst/>
            <a:cxnLst/>
            <a:rect l="l" t="t" r="r" b="b"/>
            <a:pathLst>
              <a:path w="1010311" h="571285">
                <a:moveTo>
                  <a:pt x="0" y="0"/>
                </a:moveTo>
                <a:lnTo>
                  <a:pt x="1010311" y="0"/>
                </a:lnTo>
                <a:lnTo>
                  <a:pt x="1010311" y="571285"/>
                </a:lnTo>
                <a:lnTo>
                  <a:pt x="0" y="5712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7" name="Freeform 17"/>
          <p:cNvSpPr/>
          <p:nvPr/>
        </p:nvSpPr>
        <p:spPr>
          <a:xfrm>
            <a:off x="1890682" y="4141679"/>
            <a:ext cx="669880" cy="669880"/>
          </a:xfrm>
          <a:custGeom>
            <a:avLst/>
            <a:gdLst/>
            <a:ahLst/>
            <a:cxnLst/>
            <a:rect l="l" t="t" r="r" b="b"/>
            <a:pathLst>
              <a:path w="669880" h="669880">
                <a:moveTo>
                  <a:pt x="0" y="0"/>
                </a:moveTo>
                <a:lnTo>
                  <a:pt x="669879" y="0"/>
                </a:lnTo>
                <a:lnTo>
                  <a:pt x="669879" y="669879"/>
                </a:lnTo>
                <a:lnTo>
                  <a:pt x="0" y="6698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8" name="TextBox 18"/>
          <p:cNvSpPr txBox="1"/>
          <p:nvPr/>
        </p:nvSpPr>
        <p:spPr>
          <a:xfrm>
            <a:off x="7204742" y="6803121"/>
            <a:ext cx="7303574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810" dirty="0">
                <a:solidFill>
                  <a:srgbClr val="54243E"/>
                </a:solidFill>
                <a:latin typeface="Blinker"/>
                <a:ea typeface="Blinker"/>
                <a:cs typeface="Blinker"/>
                <a:sym typeface="Blinker"/>
              </a:rPr>
              <a:t>Update or remove existing entries for accuracy and relevance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310805" y="4320719"/>
            <a:ext cx="5024575" cy="126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810" dirty="0">
                <a:solidFill>
                  <a:srgbClr val="54243E"/>
                </a:solidFill>
                <a:latin typeface="Blinker"/>
                <a:ea typeface="Blinker"/>
                <a:cs typeface="Blinker"/>
                <a:sym typeface="Blinker"/>
              </a:rPr>
              <a:t>Enter details such as Workout Name, Duration, Calories Burned, and Description.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310805" y="3755980"/>
            <a:ext cx="4733019" cy="385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10"/>
              </a:lnSpc>
            </a:pPr>
            <a:r>
              <a:rPr lang="en-US" sz="2810" b="1" dirty="0">
                <a:solidFill>
                  <a:srgbClr val="54243E"/>
                </a:solidFill>
                <a:latin typeface="Blinker Bold"/>
                <a:ea typeface="Blinker Bold"/>
                <a:cs typeface="Blinker Bold"/>
                <a:sym typeface="Blinker Bold"/>
              </a:rPr>
              <a:t>LOG WORKOUTS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054791" y="4320719"/>
            <a:ext cx="4205862" cy="126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810" dirty="0">
                <a:solidFill>
                  <a:srgbClr val="54243E"/>
                </a:solidFill>
                <a:latin typeface="Blinker"/>
                <a:ea typeface="Blinker"/>
                <a:cs typeface="Blinker"/>
                <a:sym typeface="Blinker"/>
              </a:rPr>
              <a:t>View logged workouts in a table format, filterable by date.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054791" y="3755980"/>
            <a:ext cx="4388473" cy="385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10"/>
              </a:lnSpc>
            </a:pPr>
            <a:r>
              <a:rPr lang="en-US" sz="2810" b="1" dirty="0">
                <a:solidFill>
                  <a:srgbClr val="54243E"/>
                </a:solidFill>
                <a:latin typeface="Blinker Bold"/>
                <a:ea typeface="Blinker Bold"/>
                <a:cs typeface="Blinker Bold"/>
                <a:sym typeface="Blinker Bold"/>
              </a:rPr>
              <a:t>VIEW WORKOUTS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355212" y="6175530"/>
            <a:ext cx="3931947" cy="385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10"/>
              </a:lnSpc>
            </a:pPr>
            <a:r>
              <a:rPr lang="en-US" sz="2810" b="1" dirty="0">
                <a:solidFill>
                  <a:srgbClr val="54243E"/>
                </a:solidFill>
                <a:latin typeface="Blinker Bold"/>
                <a:ea typeface="Blinker Bold"/>
                <a:cs typeface="Blinker Bold"/>
                <a:sym typeface="Blinker Bold"/>
              </a:rPr>
              <a:t>EDIT/DELETE WORKOUTS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44426" y="1068906"/>
            <a:ext cx="16040909" cy="1229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18"/>
              </a:lnSpc>
              <a:spcBef>
                <a:spcPct val="0"/>
              </a:spcBef>
            </a:pPr>
            <a:r>
              <a:rPr lang="en-US" sz="7084" dirty="0">
                <a:solidFill>
                  <a:srgbClr val="54243E"/>
                </a:solidFill>
                <a:latin typeface="Bobby Jones"/>
                <a:ea typeface="Bobby Jones"/>
                <a:cs typeface="Bobby Jones"/>
                <a:sym typeface="Bobby Jones"/>
              </a:rPr>
              <a:t>Workout Page Features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3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12603" y="3718007"/>
            <a:ext cx="1521363" cy="1521363"/>
            <a:chOff x="0" y="0"/>
            <a:chExt cx="400688" cy="4006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0688" cy="400688"/>
            </a:xfrm>
            <a:custGeom>
              <a:avLst/>
              <a:gdLst/>
              <a:ahLst/>
              <a:cxnLst/>
              <a:rect l="l" t="t" r="r" b="b"/>
              <a:pathLst>
                <a:path w="400688" h="400688">
                  <a:moveTo>
                    <a:pt x="127220" y="0"/>
                  </a:moveTo>
                  <a:lnTo>
                    <a:pt x="273468" y="0"/>
                  </a:lnTo>
                  <a:cubicBezTo>
                    <a:pt x="307209" y="0"/>
                    <a:pt x="339568" y="13404"/>
                    <a:pt x="363426" y="37262"/>
                  </a:cubicBezTo>
                  <a:cubicBezTo>
                    <a:pt x="387285" y="61120"/>
                    <a:pt x="400688" y="93479"/>
                    <a:pt x="400688" y="127220"/>
                  </a:cubicBezTo>
                  <a:lnTo>
                    <a:pt x="400688" y="273468"/>
                  </a:lnTo>
                  <a:cubicBezTo>
                    <a:pt x="400688" y="343730"/>
                    <a:pt x="343730" y="400688"/>
                    <a:pt x="273468" y="400688"/>
                  </a:cubicBezTo>
                  <a:lnTo>
                    <a:pt x="127220" y="400688"/>
                  </a:lnTo>
                  <a:cubicBezTo>
                    <a:pt x="56958" y="400688"/>
                    <a:pt x="0" y="343730"/>
                    <a:pt x="0" y="273468"/>
                  </a:cubicBezTo>
                  <a:lnTo>
                    <a:pt x="0" y="127220"/>
                  </a:lnTo>
                  <a:cubicBezTo>
                    <a:pt x="0" y="56958"/>
                    <a:pt x="56958" y="0"/>
                    <a:pt x="12722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400688" cy="4673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34"/>
                </a:lnSpc>
              </a:pPr>
              <a:endParaRPr dirty="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338191" y="3718007"/>
            <a:ext cx="1521363" cy="1521363"/>
            <a:chOff x="0" y="0"/>
            <a:chExt cx="400688" cy="4006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00688" cy="400688"/>
            </a:xfrm>
            <a:custGeom>
              <a:avLst/>
              <a:gdLst/>
              <a:ahLst/>
              <a:cxnLst/>
              <a:rect l="l" t="t" r="r" b="b"/>
              <a:pathLst>
                <a:path w="400688" h="400688">
                  <a:moveTo>
                    <a:pt x="127220" y="0"/>
                  </a:moveTo>
                  <a:lnTo>
                    <a:pt x="273468" y="0"/>
                  </a:lnTo>
                  <a:cubicBezTo>
                    <a:pt x="307209" y="0"/>
                    <a:pt x="339568" y="13404"/>
                    <a:pt x="363426" y="37262"/>
                  </a:cubicBezTo>
                  <a:cubicBezTo>
                    <a:pt x="387285" y="61120"/>
                    <a:pt x="400688" y="93479"/>
                    <a:pt x="400688" y="127220"/>
                  </a:cubicBezTo>
                  <a:lnTo>
                    <a:pt x="400688" y="273468"/>
                  </a:lnTo>
                  <a:cubicBezTo>
                    <a:pt x="400688" y="343730"/>
                    <a:pt x="343730" y="400688"/>
                    <a:pt x="273468" y="400688"/>
                  </a:cubicBezTo>
                  <a:lnTo>
                    <a:pt x="127220" y="400688"/>
                  </a:lnTo>
                  <a:cubicBezTo>
                    <a:pt x="56958" y="400688"/>
                    <a:pt x="0" y="343730"/>
                    <a:pt x="0" y="273468"/>
                  </a:cubicBezTo>
                  <a:lnTo>
                    <a:pt x="0" y="127220"/>
                  </a:lnTo>
                  <a:cubicBezTo>
                    <a:pt x="0" y="56958"/>
                    <a:pt x="56958" y="0"/>
                    <a:pt x="12722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400688" cy="4673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34"/>
                </a:lnSpc>
              </a:pPr>
              <a:endParaRPr dirty="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584938" y="6129483"/>
            <a:ext cx="1521363" cy="1521363"/>
            <a:chOff x="0" y="0"/>
            <a:chExt cx="400688" cy="4006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00688" cy="400688"/>
            </a:xfrm>
            <a:custGeom>
              <a:avLst/>
              <a:gdLst/>
              <a:ahLst/>
              <a:cxnLst/>
              <a:rect l="l" t="t" r="r" b="b"/>
              <a:pathLst>
                <a:path w="400688" h="400688">
                  <a:moveTo>
                    <a:pt x="127220" y="0"/>
                  </a:moveTo>
                  <a:lnTo>
                    <a:pt x="273468" y="0"/>
                  </a:lnTo>
                  <a:cubicBezTo>
                    <a:pt x="307209" y="0"/>
                    <a:pt x="339568" y="13404"/>
                    <a:pt x="363426" y="37262"/>
                  </a:cubicBezTo>
                  <a:cubicBezTo>
                    <a:pt x="387285" y="61120"/>
                    <a:pt x="400688" y="93479"/>
                    <a:pt x="400688" y="127220"/>
                  </a:cubicBezTo>
                  <a:lnTo>
                    <a:pt x="400688" y="273468"/>
                  </a:lnTo>
                  <a:cubicBezTo>
                    <a:pt x="400688" y="343730"/>
                    <a:pt x="343730" y="400688"/>
                    <a:pt x="273468" y="400688"/>
                  </a:cubicBezTo>
                  <a:lnTo>
                    <a:pt x="127220" y="400688"/>
                  </a:lnTo>
                  <a:cubicBezTo>
                    <a:pt x="56958" y="400688"/>
                    <a:pt x="0" y="343730"/>
                    <a:pt x="0" y="273468"/>
                  </a:cubicBezTo>
                  <a:lnTo>
                    <a:pt x="0" y="127220"/>
                  </a:lnTo>
                  <a:cubicBezTo>
                    <a:pt x="0" y="56958"/>
                    <a:pt x="56958" y="0"/>
                    <a:pt x="12722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400688" cy="4673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34"/>
                </a:lnSpc>
              </a:pPr>
              <a:endParaRPr dirty="0"/>
            </a:p>
          </p:txBody>
        </p:sp>
      </p:grpSp>
      <p:sp>
        <p:nvSpPr>
          <p:cNvPr id="11" name="Freeform 11"/>
          <p:cNvSpPr/>
          <p:nvPr/>
        </p:nvSpPr>
        <p:spPr>
          <a:xfrm>
            <a:off x="6066677" y="6611222"/>
            <a:ext cx="557885" cy="557885"/>
          </a:xfrm>
          <a:custGeom>
            <a:avLst/>
            <a:gdLst/>
            <a:ahLst/>
            <a:cxnLst/>
            <a:rect l="l" t="t" r="r" b="b"/>
            <a:pathLst>
              <a:path w="557885" h="557885">
                <a:moveTo>
                  <a:pt x="0" y="0"/>
                </a:moveTo>
                <a:lnTo>
                  <a:pt x="557885" y="0"/>
                </a:lnTo>
                <a:lnTo>
                  <a:pt x="557885" y="557885"/>
                </a:lnTo>
                <a:lnTo>
                  <a:pt x="0" y="5578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12" name="Group 12"/>
          <p:cNvGrpSpPr/>
          <p:nvPr/>
        </p:nvGrpSpPr>
        <p:grpSpPr>
          <a:xfrm>
            <a:off x="0" y="9070071"/>
            <a:ext cx="18288000" cy="2142185"/>
            <a:chOff x="0" y="0"/>
            <a:chExt cx="4816593" cy="56419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816592" cy="564197"/>
            </a:xfrm>
            <a:custGeom>
              <a:avLst/>
              <a:gdLst/>
              <a:ahLst/>
              <a:cxnLst/>
              <a:rect l="l" t="t" r="r" b="b"/>
              <a:pathLst>
                <a:path w="4816592" h="564197">
                  <a:moveTo>
                    <a:pt x="0" y="0"/>
                  </a:moveTo>
                  <a:lnTo>
                    <a:pt x="4816592" y="0"/>
                  </a:lnTo>
                  <a:lnTo>
                    <a:pt x="4816592" y="564197"/>
                  </a:lnTo>
                  <a:lnTo>
                    <a:pt x="0" y="564197"/>
                  </a:lnTo>
                  <a:close/>
                </a:path>
              </a:pathLst>
            </a:custGeom>
            <a:solidFill>
              <a:srgbClr val="54243E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4816593" cy="6213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5" name="Freeform 15"/>
          <p:cNvSpPr/>
          <p:nvPr/>
        </p:nvSpPr>
        <p:spPr>
          <a:xfrm>
            <a:off x="16492367" y="0"/>
            <a:ext cx="1778664" cy="2601337"/>
          </a:xfrm>
          <a:custGeom>
            <a:avLst/>
            <a:gdLst/>
            <a:ahLst/>
            <a:cxnLst/>
            <a:rect l="l" t="t" r="r" b="b"/>
            <a:pathLst>
              <a:path w="1778664" h="2601337">
                <a:moveTo>
                  <a:pt x="0" y="0"/>
                </a:moveTo>
                <a:lnTo>
                  <a:pt x="1778664" y="0"/>
                </a:lnTo>
                <a:lnTo>
                  <a:pt x="1778664" y="2601337"/>
                </a:lnTo>
                <a:lnTo>
                  <a:pt x="0" y="26013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6" name="TextBox 16"/>
          <p:cNvSpPr txBox="1"/>
          <p:nvPr/>
        </p:nvSpPr>
        <p:spPr>
          <a:xfrm>
            <a:off x="7352405" y="6803121"/>
            <a:ext cx="7303574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810" dirty="0">
                <a:solidFill>
                  <a:srgbClr val="54243E"/>
                </a:solidFill>
                <a:latin typeface="Blinker"/>
                <a:ea typeface="Blinker"/>
                <a:cs typeface="Blinker"/>
                <a:sym typeface="Blinker"/>
              </a:rPr>
              <a:t>Update meal information or delete irrelevant entries.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458468" y="4320719"/>
            <a:ext cx="5024575" cy="126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810" dirty="0">
                <a:solidFill>
                  <a:srgbClr val="54243E"/>
                </a:solidFill>
                <a:latin typeface="Blinker"/>
                <a:ea typeface="Blinker"/>
                <a:cs typeface="Blinker"/>
                <a:sym typeface="Blinker"/>
              </a:rPr>
              <a:t>Enter details such as Meal Name, Calories, Protein, Serving Size, and Date.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458468" y="3755980"/>
            <a:ext cx="4733019" cy="385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10"/>
              </a:lnSpc>
            </a:pPr>
            <a:r>
              <a:rPr lang="en-US" sz="2810" b="1" dirty="0">
                <a:solidFill>
                  <a:srgbClr val="54243E"/>
                </a:solidFill>
                <a:latin typeface="Blinker Bold"/>
                <a:ea typeface="Blinker Bold"/>
                <a:cs typeface="Blinker Bold"/>
                <a:sym typeface="Blinker Bold"/>
              </a:rPr>
              <a:t>LOG MEALS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202454" y="4320719"/>
            <a:ext cx="4205862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810" dirty="0">
                <a:solidFill>
                  <a:srgbClr val="54243E"/>
                </a:solidFill>
                <a:latin typeface="Blinker"/>
                <a:ea typeface="Blinker"/>
                <a:cs typeface="Blinker"/>
                <a:sym typeface="Blinker"/>
              </a:rPr>
              <a:t>See logged meal entries in a table format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202454" y="3755980"/>
            <a:ext cx="4388473" cy="385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10"/>
              </a:lnSpc>
            </a:pPr>
            <a:r>
              <a:rPr lang="en-US" sz="2810" b="1" dirty="0">
                <a:solidFill>
                  <a:srgbClr val="54243E"/>
                </a:solidFill>
                <a:latin typeface="Blinker Bold"/>
                <a:ea typeface="Blinker Bold"/>
                <a:cs typeface="Blinker Bold"/>
                <a:sym typeface="Blinker Bold"/>
              </a:rPr>
              <a:t>VIEW MEALS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502875" y="6175530"/>
            <a:ext cx="3931947" cy="385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10"/>
              </a:lnSpc>
            </a:pPr>
            <a:r>
              <a:rPr lang="en-US" sz="2810" b="1" dirty="0">
                <a:solidFill>
                  <a:srgbClr val="54243E"/>
                </a:solidFill>
                <a:latin typeface="Blinker Bold"/>
                <a:ea typeface="Blinker Bold"/>
                <a:cs typeface="Blinker Bold"/>
                <a:sym typeface="Blinker Bold"/>
              </a:rPr>
              <a:t>EDIT/DELETE MEALS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23545" y="1068906"/>
            <a:ext cx="16040909" cy="1229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18"/>
              </a:lnSpc>
              <a:spcBef>
                <a:spcPct val="0"/>
              </a:spcBef>
            </a:pPr>
            <a:r>
              <a:rPr lang="en-US" sz="7084" dirty="0">
                <a:solidFill>
                  <a:srgbClr val="54243E"/>
                </a:solidFill>
                <a:latin typeface="Bobby Jones"/>
                <a:ea typeface="Bobby Jones"/>
                <a:cs typeface="Bobby Jones"/>
                <a:sym typeface="Bobby Jones"/>
              </a:rPr>
              <a:t>Dietary Page Features</a:t>
            </a:r>
          </a:p>
        </p:txBody>
      </p:sp>
      <p:sp>
        <p:nvSpPr>
          <p:cNvPr id="23" name="Freeform 23"/>
          <p:cNvSpPr/>
          <p:nvPr/>
        </p:nvSpPr>
        <p:spPr>
          <a:xfrm>
            <a:off x="9593717" y="4245053"/>
            <a:ext cx="1010311" cy="571285"/>
          </a:xfrm>
          <a:custGeom>
            <a:avLst/>
            <a:gdLst/>
            <a:ahLst/>
            <a:cxnLst/>
            <a:rect l="l" t="t" r="r" b="b"/>
            <a:pathLst>
              <a:path w="1010311" h="571285">
                <a:moveTo>
                  <a:pt x="0" y="0"/>
                </a:moveTo>
                <a:lnTo>
                  <a:pt x="1010311" y="0"/>
                </a:lnTo>
                <a:lnTo>
                  <a:pt x="1010311" y="571285"/>
                </a:lnTo>
                <a:lnTo>
                  <a:pt x="0" y="5712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24" name="Freeform 24"/>
          <p:cNvSpPr/>
          <p:nvPr/>
        </p:nvSpPr>
        <p:spPr>
          <a:xfrm>
            <a:off x="2038344" y="4141679"/>
            <a:ext cx="669880" cy="669880"/>
          </a:xfrm>
          <a:custGeom>
            <a:avLst/>
            <a:gdLst/>
            <a:ahLst/>
            <a:cxnLst/>
            <a:rect l="l" t="t" r="r" b="b"/>
            <a:pathLst>
              <a:path w="669880" h="669880">
                <a:moveTo>
                  <a:pt x="0" y="0"/>
                </a:moveTo>
                <a:lnTo>
                  <a:pt x="669880" y="0"/>
                </a:lnTo>
                <a:lnTo>
                  <a:pt x="669880" y="669879"/>
                </a:lnTo>
                <a:lnTo>
                  <a:pt x="0" y="6698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3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37213" y="3798671"/>
            <a:ext cx="1521363" cy="1521363"/>
            <a:chOff x="0" y="0"/>
            <a:chExt cx="400688" cy="4006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0688" cy="400688"/>
            </a:xfrm>
            <a:custGeom>
              <a:avLst/>
              <a:gdLst/>
              <a:ahLst/>
              <a:cxnLst/>
              <a:rect l="l" t="t" r="r" b="b"/>
              <a:pathLst>
                <a:path w="400688" h="400688">
                  <a:moveTo>
                    <a:pt x="127220" y="0"/>
                  </a:moveTo>
                  <a:lnTo>
                    <a:pt x="273468" y="0"/>
                  </a:lnTo>
                  <a:cubicBezTo>
                    <a:pt x="307209" y="0"/>
                    <a:pt x="339568" y="13404"/>
                    <a:pt x="363426" y="37262"/>
                  </a:cubicBezTo>
                  <a:cubicBezTo>
                    <a:pt x="387285" y="61120"/>
                    <a:pt x="400688" y="93479"/>
                    <a:pt x="400688" y="127220"/>
                  </a:cubicBezTo>
                  <a:lnTo>
                    <a:pt x="400688" y="273468"/>
                  </a:lnTo>
                  <a:cubicBezTo>
                    <a:pt x="400688" y="343730"/>
                    <a:pt x="343730" y="400688"/>
                    <a:pt x="273468" y="400688"/>
                  </a:cubicBezTo>
                  <a:lnTo>
                    <a:pt x="127220" y="400688"/>
                  </a:lnTo>
                  <a:cubicBezTo>
                    <a:pt x="56958" y="400688"/>
                    <a:pt x="0" y="343730"/>
                    <a:pt x="0" y="273468"/>
                  </a:cubicBezTo>
                  <a:lnTo>
                    <a:pt x="0" y="127220"/>
                  </a:lnTo>
                  <a:cubicBezTo>
                    <a:pt x="0" y="56958"/>
                    <a:pt x="56958" y="0"/>
                    <a:pt x="12722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400688" cy="4673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34"/>
                </a:lnSpc>
              </a:pPr>
              <a:endParaRPr dirty="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362801" y="3798671"/>
            <a:ext cx="1521363" cy="1521363"/>
            <a:chOff x="0" y="0"/>
            <a:chExt cx="400688" cy="4006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00688" cy="400688"/>
            </a:xfrm>
            <a:custGeom>
              <a:avLst/>
              <a:gdLst/>
              <a:ahLst/>
              <a:cxnLst/>
              <a:rect l="l" t="t" r="r" b="b"/>
              <a:pathLst>
                <a:path w="400688" h="400688">
                  <a:moveTo>
                    <a:pt x="127220" y="0"/>
                  </a:moveTo>
                  <a:lnTo>
                    <a:pt x="273468" y="0"/>
                  </a:lnTo>
                  <a:cubicBezTo>
                    <a:pt x="307209" y="0"/>
                    <a:pt x="339568" y="13404"/>
                    <a:pt x="363426" y="37262"/>
                  </a:cubicBezTo>
                  <a:cubicBezTo>
                    <a:pt x="387285" y="61120"/>
                    <a:pt x="400688" y="93479"/>
                    <a:pt x="400688" y="127220"/>
                  </a:cubicBezTo>
                  <a:lnTo>
                    <a:pt x="400688" y="273468"/>
                  </a:lnTo>
                  <a:cubicBezTo>
                    <a:pt x="400688" y="343730"/>
                    <a:pt x="343730" y="400688"/>
                    <a:pt x="273468" y="400688"/>
                  </a:cubicBezTo>
                  <a:lnTo>
                    <a:pt x="127220" y="400688"/>
                  </a:lnTo>
                  <a:cubicBezTo>
                    <a:pt x="56958" y="400688"/>
                    <a:pt x="0" y="343730"/>
                    <a:pt x="0" y="273468"/>
                  </a:cubicBezTo>
                  <a:lnTo>
                    <a:pt x="0" y="127220"/>
                  </a:lnTo>
                  <a:cubicBezTo>
                    <a:pt x="0" y="56958"/>
                    <a:pt x="56958" y="0"/>
                    <a:pt x="12722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400688" cy="4673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34"/>
                </a:lnSpc>
              </a:pPr>
              <a:endParaRPr dirty="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609548" y="6210148"/>
            <a:ext cx="1521363" cy="1521363"/>
            <a:chOff x="0" y="0"/>
            <a:chExt cx="400688" cy="4006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00688" cy="400688"/>
            </a:xfrm>
            <a:custGeom>
              <a:avLst/>
              <a:gdLst/>
              <a:ahLst/>
              <a:cxnLst/>
              <a:rect l="l" t="t" r="r" b="b"/>
              <a:pathLst>
                <a:path w="400688" h="400688">
                  <a:moveTo>
                    <a:pt x="127220" y="0"/>
                  </a:moveTo>
                  <a:lnTo>
                    <a:pt x="273468" y="0"/>
                  </a:lnTo>
                  <a:cubicBezTo>
                    <a:pt x="307209" y="0"/>
                    <a:pt x="339568" y="13404"/>
                    <a:pt x="363426" y="37262"/>
                  </a:cubicBezTo>
                  <a:cubicBezTo>
                    <a:pt x="387285" y="61120"/>
                    <a:pt x="400688" y="93479"/>
                    <a:pt x="400688" y="127220"/>
                  </a:cubicBezTo>
                  <a:lnTo>
                    <a:pt x="400688" y="273468"/>
                  </a:lnTo>
                  <a:cubicBezTo>
                    <a:pt x="400688" y="343730"/>
                    <a:pt x="343730" y="400688"/>
                    <a:pt x="273468" y="400688"/>
                  </a:cubicBezTo>
                  <a:lnTo>
                    <a:pt x="127220" y="400688"/>
                  </a:lnTo>
                  <a:cubicBezTo>
                    <a:pt x="56958" y="400688"/>
                    <a:pt x="0" y="343730"/>
                    <a:pt x="0" y="273468"/>
                  </a:cubicBezTo>
                  <a:lnTo>
                    <a:pt x="0" y="127220"/>
                  </a:lnTo>
                  <a:cubicBezTo>
                    <a:pt x="0" y="56958"/>
                    <a:pt x="56958" y="0"/>
                    <a:pt x="12722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400688" cy="4673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34"/>
                </a:lnSpc>
              </a:pPr>
              <a:endParaRPr dirty="0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9070071"/>
            <a:ext cx="18288000" cy="2142185"/>
            <a:chOff x="0" y="0"/>
            <a:chExt cx="4816593" cy="56419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16592" cy="564197"/>
            </a:xfrm>
            <a:custGeom>
              <a:avLst/>
              <a:gdLst/>
              <a:ahLst/>
              <a:cxnLst/>
              <a:rect l="l" t="t" r="r" b="b"/>
              <a:pathLst>
                <a:path w="4816592" h="564197">
                  <a:moveTo>
                    <a:pt x="0" y="0"/>
                  </a:moveTo>
                  <a:lnTo>
                    <a:pt x="4816592" y="0"/>
                  </a:lnTo>
                  <a:lnTo>
                    <a:pt x="4816592" y="564197"/>
                  </a:lnTo>
                  <a:lnTo>
                    <a:pt x="0" y="564197"/>
                  </a:lnTo>
                  <a:close/>
                </a:path>
              </a:pathLst>
            </a:custGeom>
            <a:solidFill>
              <a:srgbClr val="54243E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4816593" cy="6213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4" name="Freeform 14"/>
          <p:cNvSpPr/>
          <p:nvPr/>
        </p:nvSpPr>
        <p:spPr>
          <a:xfrm>
            <a:off x="16013447" y="0"/>
            <a:ext cx="2213985" cy="2459984"/>
          </a:xfrm>
          <a:custGeom>
            <a:avLst/>
            <a:gdLst/>
            <a:ahLst/>
            <a:cxnLst/>
            <a:rect l="l" t="t" r="r" b="b"/>
            <a:pathLst>
              <a:path w="2213985" h="2459984">
                <a:moveTo>
                  <a:pt x="0" y="0"/>
                </a:moveTo>
                <a:lnTo>
                  <a:pt x="2213986" y="0"/>
                </a:lnTo>
                <a:lnTo>
                  <a:pt x="2213986" y="2459984"/>
                </a:lnTo>
                <a:lnTo>
                  <a:pt x="0" y="24599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5" name="Freeform 15"/>
          <p:cNvSpPr/>
          <p:nvPr/>
        </p:nvSpPr>
        <p:spPr>
          <a:xfrm>
            <a:off x="2060885" y="4222343"/>
            <a:ext cx="634765" cy="634765"/>
          </a:xfrm>
          <a:custGeom>
            <a:avLst/>
            <a:gdLst/>
            <a:ahLst/>
            <a:cxnLst/>
            <a:rect l="l" t="t" r="r" b="b"/>
            <a:pathLst>
              <a:path w="634765" h="634765">
                <a:moveTo>
                  <a:pt x="0" y="0"/>
                </a:moveTo>
                <a:lnTo>
                  <a:pt x="634765" y="0"/>
                </a:lnTo>
                <a:lnTo>
                  <a:pt x="634765" y="634765"/>
                </a:lnTo>
                <a:lnTo>
                  <a:pt x="0" y="6347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6" name="Freeform 16"/>
          <p:cNvSpPr/>
          <p:nvPr/>
        </p:nvSpPr>
        <p:spPr>
          <a:xfrm>
            <a:off x="9749417" y="4185287"/>
            <a:ext cx="748131" cy="748131"/>
          </a:xfrm>
          <a:custGeom>
            <a:avLst/>
            <a:gdLst/>
            <a:ahLst/>
            <a:cxnLst/>
            <a:rect l="l" t="t" r="r" b="b"/>
            <a:pathLst>
              <a:path w="748131" h="748131">
                <a:moveTo>
                  <a:pt x="0" y="0"/>
                </a:moveTo>
                <a:lnTo>
                  <a:pt x="748131" y="0"/>
                </a:lnTo>
                <a:lnTo>
                  <a:pt x="748131" y="748131"/>
                </a:lnTo>
                <a:lnTo>
                  <a:pt x="0" y="7481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7" name="Freeform 17"/>
          <p:cNvSpPr/>
          <p:nvPr/>
        </p:nvSpPr>
        <p:spPr>
          <a:xfrm>
            <a:off x="5995365" y="6595417"/>
            <a:ext cx="684721" cy="689738"/>
          </a:xfrm>
          <a:custGeom>
            <a:avLst/>
            <a:gdLst/>
            <a:ahLst/>
            <a:cxnLst/>
            <a:rect l="l" t="t" r="r" b="b"/>
            <a:pathLst>
              <a:path w="684721" h="689738">
                <a:moveTo>
                  <a:pt x="0" y="0"/>
                </a:moveTo>
                <a:lnTo>
                  <a:pt x="684722" y="0"/>
                </a:lnTo>
                <a:lnTo>
                  <a:pt x="684722" y="689737"/>
                </a:lnTo>
                <a:lnTo>
                  <a:pt x="0" y="6897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8" name="TextBox 18"/>
          <p:cNvSpPr txBox="1"/>
          <p:nvPr/>
        </p:nvSpPr>
        <p:spPr>
          <a:xfrm>
            <a:off x="7575277" y="7066079"/>
            <a:ext cx="7303574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810" dirty="0">
                <a:solidFill>
                  <a:srgbClr val="54243E"/>
                </a:solidFill>
                <a:latin typeface="Blinker"/>
                <a:ea typeface="Blinker"/>
                <a:cs typeface="Blinker"/>
                <a:sym typeface="Blinker"/>
              </a:rPr>
              <a:t>Visualize weight changes over time.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483078" y="4401384"/>
            <a:ext cx="5024575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810" dirty="0">
                <a:solidFill>
                  <a:srgbClr val="54243E"/>
                </a:solidFill>
                <a:latin typeface="Blinker"/>
                <a:ea typeface="Blinker"/>
                <a:cs typeface="Blinker"/>
                <a:sym typeface="Blinker"/>
              </a:rPr>
              <a:t>Display calories burned over time based on workouts.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483078" y="3484219"/>
            <a:ext cx="4733019" cy="738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10"/>
              </a:lnSpc>
            </a:pPr>
            <a:r>
              <a:rPr lang="en-US" sz="2810" b="1" dirty="0">
                <a:solidFill>
                  <a:srgbClr val="54243E"/>
                </a:solidFill>
                <a:latin typeface="Blinker Bold"/>
                <a:ea typeface="Blinker Bold"/>
                <a:cs typeface="Blinker Bold"/>
                <a:sym typeface="Blinker Bold"/>
              </a:rPr>
              <a:t>WORKOUT TRENDS (BAR GRAPH)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227064" y="4401384"/>
            <a:ext cx="4205862" cy="126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810" dirty="0">
                <a:solidFill>
                  <a:srgbClr val="54243E"/>
                </a:solidFill>
                <a:latin typeface="Blinker"/>
                <a:ea typeface="Blinker"/>
                <a:cs typeface="Blinker"/>
                <a:sym typeface="Blinker"/>
              </a:rPr>
              <a:t>Show protein and calorie distribution for meals on a specific date.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227064" y="3484219"/>
            <a:ext cx="4388473" cy="738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10"/>
              </a:lnSpc>
            </a:pPr>
            <a:r>
              <a:rPr lang="en-US" sz="2810" b="1" dirty="0">
                <a:solidFill>
                  <a:srgbClr val="54243E"/>
                </a:solidFill>
                <a:latin typeface="Blinker Bold"/>
                <a:ea typeface="Blinker Bold"/>
                <a:cs typeface="Blinker Bold"/>
                <a:sym typeface="Blinker Bold"/>
              </a:rPr>
              <a:t>DIETARY BREAKDOWN (PIE CHART)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216097" y="6232705"/>
            <a:ext cx="3931947" cy="738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10"/>
              </a:lnSpc>
            </a:pPr>
            <a:r>
              <a:rPr lang="en-US" sz="2810" b="1" dirty="0">
                <a:solidFill>
                  <a:srgbClr val="54243E"/>
                </a:solidFill>
                <a:latin typeface="Blinker Bold"/>
                <a:ea typeface="Blinker Bold"/>
                <a:cs typeface="Blinker Bold"/>
                <a:sym typeface="Blinker Bold"/>
              </a:rPr>
              <a:t>WEIGHT PROGRESS (LINE GRAPH)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23545" y="768571"/>
            <a:ext cx="16040909" cy="1229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18"/>
              </a:lnSpc>
              <a:spcBef>
                <a:spcPct val="0"/>
              </a:spcBef>
            </a:pPr>
            <a:r>
              <a:rPr lang="en-US" sz="7084" dirty="0">
                <a:solidFill>
                  <a:srgbClr val="54243E"/>
                </a:solidFill>
                <a:latin typeface="Bobby Jones"/>
                <a:ea typeface="Bobby Jones"/>
                <a:cs typeface="Bobby Jones"/>
                <a:sym typeface="Bobby Jones"/>
              </a:rPr>
              <a:t>Visualization Page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3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50794" y="2145298"/>
            <a:ext cx="6769781" cy="3469513"/>
          </a:xfrm>
          <a:custGeom>
            <a:avLst/>
            <a:gdLst/>
            <a:ahLst/>
            <a:cxnLst/>
            <a:rect l="l" t="t" r="r" b="b"/>
            <a:pathLst>
              <a:path w="6769781" h="3469513">
                <a:moveTo>
                  <a:pt x="0" y="0"/>
                </a:moveTo>
                <a:lnTo>
                  <a:pt x="6769781" y="0"/>
                </a:lnTo>
                <a:lnTo>
                  <a:pt x="6769781" y="3469512"/>
                </a:lnTo>
                <a:lnTo>
                  <a:pt x="0" y="34695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9569059" y="2468844"/>
            <a:ext cx="7500550" cy="2156408"/>
          </a:xfrm>
          <a:custGeom>
            <a:avLst/>
            <a:gdLst/>
            <a:ahLst/>
            <a:cxnLst/>
            <a:rect l="l" t="t" r="r" b="b"/>
            <a:pathLst>
              <a:path w="7500550" h="2156408">
                <a:moveTo>
                  <a:pt x="0" y="0"/>
                </a:moveTo>
                <a:lnTo>
                  <a:pt x="7500550" y="0"/>
                </a:lnTo>
                <a:lnTo>
                  <a:pt x="7500550" y="2156408"/>
                </a:lnTo>
                <a:lnTo>
                  <a:pt x="0" y="21564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Freeform 4"/>
          <p:cNvSpPr/>
          <p:nvPr/>
        </p:nvSpPr>
        <p:spPr>
          <a:xfrm>
            <a:off x="910367" y="6776860"/>
            <a:ext cx="8460945" cy="2375957"/>
          </a:xfrm>
          <a:custGeom>
            <a:avLst/>
            <a:gdLst/>
            <a:ahLst/>
            <a:cxnLst/>
            <a:rect l="l" t="t" r="r" b="b"/>
            <a:pathLst>
              <a:path w="8460945" h="2375957">
                <a:moveTo>
                  <a:pt x="0" y="0"/>
                </a:moveTo>
                <a:lnTo>
                  <a:pt x="8460944" y="0"/>
                </a:lnTo>
                <a:lnTo>
                  <a:pt x="8460944" y="2375957"/>
                </a:lnTo>
                <a:lnTo>
                  <a:pt x="0" y="23759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51790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Freeform 5"/>
          <p:cNvSpPr/>
          <p:nvPr/>
        </p:nvSpPr>
        <p:spPr>
          <a:xfrm>
            <a:off x="10245927" y="5838825"/>
            <a:ext cx="6210116" cy="3881322"/>
          </a:xfrm>
          <a:custGeom>
            <a:avLst/>
            <a:gdLst/>
            <a:ahLst/>
            <a:cxnLst/>
            <a:rect l="l" t="t" r="r" b="b"/>
            <a:pathLst>
              <a:path w="6210116" h="3881322">
                <a:moveTo>
                  <a:pt x="0" y="0"/>
                </a:moveTo>
                <a:lnTo>
                  <a:pt x="6210115" y="0"/>
                </a:lnTo>
                <a:lnTo>
                  <a:pt x="6210115" y="3881322"/>
                </a:lnTo>
                <a:lnTo>
                  <a:pt x="0" y="38813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TextBox 6"/>
          <p:cNvSpPr txBox="1"/>
          <p:nvPr/>
        </p:nvSpPr>
        <p:spPr>
          <a:xfrm>
            <a:off x="1028700" y="337626"/>
            <a:ext cx="16040909" cy="1229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18"/>
              </a:lnSpc>
              <a:spcBef>
                <a:spcPct val="0"/>
              </a:spcBef>
            </a:pPr>
            <a:r>
              <a:rPr lang="en-US" sz="7084" dirty="0">
                <a:solidFill>
                  <a:srgbClr val="54243E"/>
                </a:solidFill>
                <a:latin typeface="Bobby Jones"/>
                <a:ea typeface="Bobby Jones"/>
                <a:cs typeface="Bobby Jones"/>
                <a:sym typeface="Bobby Jones"/>
              </a:rPr>
              <a:t>User interface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27369" y="1557849"/>
            <a:ext cx="7816631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2"/>
              </a:lnSpc>
              <a:spcBef>
                <a:spcPct val="0"/>
              </a:spcBef>
            </a:pPr>
            <a:r>
              <a:rPr lang="en-US" sz="2810" dirty="0">
                <a:solidFill>
                  <a:srgbClr val="54243E"/>
                </a:solidFill>
                <a:latin typeface="Blinker"/>
                <a:ea typeface="Blinker"/>
                <a:cs typeface="Blinker"/>
                <a:sym typeface="Blinker"/>
              </a:rPr>
              <a:t>User Page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442669" y="1557849"/>
            <a:ext cx="7816631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2"/>
              </a:lnSpc>
              <a:spcBef>
                <a:spcPct val="0"/>
              </a:spcBef>
            </a:pPr>
            <a:r>
              <a:rPr lang="en-US" sz="2810" dirty="0">
                <a:solidFill>
                  <a:srgbClr val="54243E"/>
                </a:solidFill>
                <a:latin typeface="Blinker"/>
                <a:ea typeface="Blinker"/>
                <a:cs typeface="Blinker"/>
                <a:sym typeface="Blinker"/>
              </a:rPr>
              <a:t>Workout Page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11019" y="4924425"/>
            <a:ext cx="7816631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2"/>
              </a:lnSpc>
              <a:spcBef>
                <a:spcPct val="0"/>
              </a:spcBef>
            </a:pPr>
            <a:r>
              <a:rPr lang="en-US" sz="2810" dirty="0">
                <a:solidFill>
                  <a:srgbClr val="54243E"/>
                </a:solidFill>
                <a:latin typeface="Blinker"/>
                <a:ea typeface="Blinker"/>
                <a:cs typeface="Blinker"/>
                <a:sym typeface="Blinker"/>
              </a:rPr>
              <a:t>Visualization page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32524" y="5976760"/>
            <a:ext cx="7816631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2"/>
              </a:lnSpc>
              <a:spcBef>
                <a:spcPct val="0"/>
              </a:spcBef>
            </a:pPr>
            <a:r>
              <a:rPr lang="en-US" sz="2810" dirty="0">
                <a:solidFill>
                  <a:srgbClr val="54243E"/>
                </a:solidFill>
                <a:latin typeface="Blinker"/>
                <a:ea typeface="Blinker"/>
                <a:cs typeface="Blinker"/>
                <a:sym typeface="Blinker"/>
              </a:rPr>
              <a:t>Dietary Info page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3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-838200" y="1643960"/>
            <a:ext cx="1866900" cy="2048344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19125" cap="sq">
              <a:solidFill>
                <a:srgbClr val="D17530"/>
              </a:solidFill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grpSp>
        <p:nvGrpSpPr>
          <p:cNvPr id="2" name="Group 2"/>
          <p:cNvGrpSpPr/>
          <p:nvPr/>
        </p:nvGrpSpPr>
        <p:grpSpPr>
          <a:xfrm>
            <a:off x="933855" y="3882210"/>
            <a:ext cx="16230600" cy="5376090"/>
            <a:chOff x="0" y="0"/>
            <a:chExt cx="4274726" cy="14159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1415925"/>
            </a:xfrm>
            <a:custGeom>
              <a:avLst/>
              <a:gdLst/>
              <a:ahLst/>
              <a:cxnLst/>
              <a:rect l="l" t="t" r="r" b="b"/>
              <a:pathLst>
                <a:path w="4274726" h="1415925">
                  <a:moveTo>
                    <a:pt x="47700" y="0"/>
                  </a:moveTo>
                  <a:lnTo>
                    <a:pt x="4227026" y="0"/>
                  </a:lnTo>
                  <a:cubicBezTo>
                    <a:pt x="4239677" y="0"/>
                    <a:pt x="4251809" y="5025"/>
                    <a:pt x="4260755" y="13971"/>
                  </a:cubicBezTo>
                  <a:cubicBezTo>
                    <a:pt x="4269700" y="22916"/>
                    <a:pt x="4274726" y="35049"/>
                    <a:pt x="4274726" y="47700"/>
                  </a:cubicBezTo>
                  <a:lnTo>
                    <a:pt x="4274726" y="1368225"/>
                  </a:lnTo>
                  <a:cubicBezTo>
                    <a:pt x="4274726" y="1380876"/>
                    <a:pt x="4269700" y="1393009"/>
                    <a:pt x="4260755" y="1401954"/>
                  </a:cubicBezTo>
                  <a:cubicBezTo>
                    <a:pt x="4251809" y="1410899"/>
                    <a:pt x="4239677" y="1415925"/>
                    <a:pt x="4227026" y="1415925"/>
                  </a:cubicBezTo>
                  <a:lnTo>
                    <a:pt x="47700" y="1415925"/>
                  </a:lnTo>
                  <a:cubicBezTo>
                    <a:pt x="35049" y="1415925"/>
                    <a:pt x="22916" y="1410899"/>
                    <a:pt x="13971" y="1401954"/>
                  </a:cubicBezTo>
                  <a:cubicBezTo>
                    <a:pt x="5025" y="1393009"/>
                    <a:pt x="0" y="1380876"/>
                    <a:pt x="0" y="1368225"/>
                  </a:cubicBezTo>
                  <a:lnTo>
                    <a:pt x="0" y="47700"/>
                  </a:lnTo>
                  <a:cubicBezTo>
                    <a:pt x="0" y="35049"/>
                    <a:pt x="5025" y="22916"/>
                    <a:pt x="13971" y="13971"/>
                  </a:cubicBezTo>
                  <a:cubicBezTo>
                    <a:pt x="22916" y="5025"/>
                    <a:pt x="35049" y="0"/>
                    <a:pt x="47700" y="0"/>
                  </a:cubicBezTo>
                  <a:close/>
                </a:path>
              </a:pathLst>
            </a:custGeom>
            <a:solidFill>
              <a:srgbClr val="54243E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4274726" cy="1482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34"/>
                </a:lnSpc>
              </a:pPr>
              <a:endParaRPr dirty="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67635" y="4512915"/>
            <a:ext cx="1866103" cy="186610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34"/>
                </a:lnSpc>
              </a:pPr>
              <a:endParaRPr dirty="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190209" y="-1342175"/>
            <a:ext cx="2684351" cy="2684351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0813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144000" y="4512915"/>
            <a:ext cx="1866103" cy="186610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34"/>
                </a:lnSpc>
              </a:pPr>
              <a:endParaRPr dirty="0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253514" y="6880253"/>
            <a:ext cx="1866103" cy="1866103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34"/>
                </a:lnSpc>
              </a:pPr>
              <a:endParaRPr dirty="0"/>
            </a:p>
            <a:p>
              <a:pPr algn="ctr">
                <a:lnSpc>
                  <a:spcPts val="3934"/>
                </a:lnSpc>
              </a:pPr>
              <a:endParaRPr dirty="0"/>
            </a:p>
          </p:txBody>
        </p:sp>
      </p:grpSp>
      <p:sp>
        <p:nvSpPr>
          <p:cNvPr id="20" name="Freeform 20"/>
          <p:cNvSpPr/>
          <p:nvPr/>
        </p:nvSpPr>
        <p:spPr>
          <a:xfrm>
            <a:off x="2394474" y="5101166"/>
            <a:ext cx="612425" cy="670984"/>
          </a:xfrm>
          <a:custGeom>
            <a:avLst/>
            <a:gdLst/>
            <a:ahLst/>
            <a:cxnLst/>
            <a:rect l="l" t="t" r="r" b="b"/>
            <a:pathLst>
              <a:path w="612425" h="670984">
                <a:moveTo>
                  <a:pt x="0" y="0"/>
                </a:moveTo>
                <a:lnTo>
                  <a:pt x="612425" y="0"/>
                </a:lnTo>
                <a:lnTo>
                  <a:pt x="612425" y="670984"/>
                </a:lnTo>
                <a:lnTo>
                  <a:pt x="0" y="6709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21" name="Freeform 21"/>
          <p:cNvSpPr/>
          <p:nvPr/>
        </p:nvSpPr>
        <p:spPr>
          <a:xfrm>
            <a:off x="9648972" y="5143500"/>
            <a:ext cx="856159" cy="649124"/>
          </a:xfrm>
          <a:custGeom>
            <a:avLst/>
            <a:gdLst/>
            <a:ahLst/>
            <a:cxnLst/>
            <a:rect l="l" t="t" r="r" b="b"/>
            <a:pathLst>
              <a:path w="856159" h="649124">
                <a:moveTo>
                  <a:pt x="0" y="0"/>
                </a:moveTo>
                <a:lnTo>
                  <a:pt x="856159" y="0"/>
                </a:lnTo>
                <a:lnTo>
                  <a:pt x="856159" y="649124"/>
                </a:lnTo>
                <a:lnTo>
                  <a:pt x="0" y="649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22" name="TextBox 22"/>
          <p:cNvSpPr txBox="1"/>
          <p:nvPr/>
        </p:nvSpPr>
        <p:spPr>
          <a:xfrm>
            <a:off x="4115251" y="4522042"/>
            <a:ext cx="4624142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810" b="1" dirty="0">
                <a:solidFill>
                  <a:srgbClr val="FFE3DD"/>
                </a:solidFill>
                <a:latin typeface="Blinker Bold"/>
                <a:ea typeface="Blinker Bold"/>
                <a:cs typeface="Blinker Bold"/>
                <a:sym typeface="Blinker Bold"/>
              </a:rPr>
              <a:t>Deleting Workouts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23545" y="768571"/>
            <a:ext cx="16040909" cy="1229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18"/>
              </a:lnSpc>
              <a:spcBef>
                <a:spcPct val="0"/>
              </a:spcBef>
            </a:pPr>
            <a:r>
              <a:rPr lang="en-US" sz="7084" dirty="0">
                <a:solidFill>
                  <a:srgbClr val="54243E"/>
                </a:solidFill>
                <a:latin typeface="Bobby Jones"/>
                <a:ea typeface="Bobby Jones"/>
                <a:cs typeface="Bobby Jones"/>
                <a:sym typeface="Bobby Jones"/>
              </a:rPr>
              <a:t>Additional Scenarios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115251" y="5133975"/>
            <a:ext cx="4624142" cy="126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810" dirty="0">
                <a:solidFill>
                  <a:srgbClr val="FFE3DD"/>
                </a:solidFill>
                <a:latin typeface="Blinker"/>
                <a:ea typeface="Blinker"/>
                <a:cs typeface="Blinker"/>
                <a:sym typeface="Blinker"/>
              </a:rPr>
              <a:t>Users can delete specific workout entries after confirmation.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491615" y="4522042"/>
            <a:ext cx="4624142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810" b="1" dirty="0">
                <a:solidFill>
                  <a:srgbClr val="FFE3DD"/>
                </a:solidFill>
                <a:latin typeface="Blinker Bold"/>
                <a:ea typeface="Blinker Bold"/>
                <a:cs typeface="Blinker Bold"/>
                <a:sym typeface="Blinker Bold"/>
              </a:rPr>
              <a:t>Changing Password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491615" y="5133975"/>
            <a:ext cx="4624142" cy="210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810" dirty="0">
                <a:solidFill>
                  <a:srgbClr val="FFE3DD"/>
                </a:solidFill>
                <a:latin typeface="Blinker"/>
                <a:ea typeface="Blinker"/>
                <a:cs typeface="Blinker"/>
                <a:sym typeface="Blinker"/>
              </a:rPr>
              <a:t>Requires the current password and confirmation of the new password.</a:t>
            </a:r>
          </a:p>
          <a:p>
            <a:pPr algn="l">
              <a:lnSpc>
                <a:spcPts val="3372"/>
              </a:lnSpc>
            </a:pPr>
            <a:endParaRPr lang="en-US" sz="2810" dirty="0">
              <a:solidFill>
                <a:srgbClr val="FFE3DD"/>
              </a:solidFill>
              <a:latin typeface="Blinker"/>
              <a:ea typeface="Blinker"/>
              <a:cs typeface="Blinker"/>
              <a:sym typeface="Blinker"/>
            </a:endParaRPr>
          </a:p>
          <a:p>
            <a:pPr algn="l">
              <a:lnSpc>
                <a:spcPts val="3372"/>
              </a:lnSpc>
            </a:pPr>
            <a:endParaRPr lang="en-US" sz="2810" dirty="0">
              <a:solidFill>
                <a:srgbClr val="FFE3DD"/>
              </a:solidFill>
              <a:latin typeface="Blinker"/>
              <a:ea typeface="Blinker"/>
              <a:cs typeface="Blinker"/>
              <a:sym typeface="Blinker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601129" y="6889379"/>
            <a:ext cx="4624142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810" b="1" dirty="0">
                <a:solidFill>
                  <a:srgbClr val="FFE3DD"/>
                </a:solidFill>
                <a:latin typeface="Blinker Bold"/>
                <a:ea typeface="Blinker Bold"/>
                <a:cs typeface="Blinker Bold"/>
                <a:sym typeface="Blinker Bold"/>
              </a:rPr>
              <a:t>Deleting Account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601129" y="7501312"/>
            <a:ext cx="4624142" cy="126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810" dirty="0">
                <a:solidFill>
                  <a:srgbClr val="FFE3DD"/>
                </a:solidFill>
                <a:latin typeface="Blinker"/>
                <a:ea typeface="Blinker"/>
                <a:cs typeface="Blinker"/>
                <a:sym typeface="Blinker"/>
              </a:rPr>
              <a:t>A confirmation ensures irreversible removal of user data.</a:t>
            </a:r>
          </a:p>
        </p:txBody>
      </p:sp>
      <p:sp>
        <p:nvSpPr>
          <p:cNvPr id="29" name="Freeform 29"/>
          <p:cNvSpPr/>
          <p:nvPr/>
        </p:nvSpPr>
        <p:spPr>
          <a:xfrm>
            <a:off x="5880353" y="7468503"/>
            <a:ext cx="612425" cy="670984"/>
          </a:xfrm>
          <a:custGeom>
            <a:avLst/>
            <a:gdLst/>
            <a:ahLst/>
            <a:cxnLst/>
            <a:rect l="l" t="t" r="r" b="b"/>
            <a:pathLst>
              <a:path w="612425" h="670984">
                <a:moveTo>
                  <a:pt x="0" y="0"/>
                </a:moveTo>
                <a:lnTo>
                  <a:pt x="612425" y="0"/>
                </a:lnTo>
                <a:lnTo>
                  <a:pt x="612425" y="670984"/>
                </a:lnTo>
                <a:lnTo>
                  <a:pt x="0" y="6709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3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8426662"/>
            <a:ext cx="18288000" cy="2785594"/>
            <a:chOff x="0" y="0"/>
            <a:chExt cx="5043647" cy="73365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43647" cy="733654"/>
            </a:xfrm>
            <a:custGeom>
              <a:avLst/>
              <a:gdLst/>
              <a:ahLst/>
              <a:cxnLst/>
              <a:rect l="l" t="t" r="r" b="b"/>
              <a:pathLst>
                <a:path w="5043647" h="733654">
                  <a:moveTo>
                    <a:pt x="0" y="0"/>
                  </a:moveTo>
                  <a:lnTo>
                    <a:pt x="5043647" y="0"/>
                  </a:lnTo>
                  <a:lnTo>
                    <a:pt x="5043647" y="733654"/>
                  </a:lnTo>
                  <a:lnTo>
                    <a:pt x="0" y="733654"/>
                  </a:lnTo>
                  <a:close/>
                </a:path>
              </a:pathLst>
            </a:custGeom>
            <a:solidFill>
              <a:srgbClr val="54243E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5043647" cy="7908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81441" y="876300"/>
            <a:ext cx="17512919" cy="1160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18"/>
              </a:lnSpc>
              <a:spcBef>
                <a:spcPct val="0"/>
              </a:spcBef>
            </a:pPr>
            <a:r>
              <a:rPr lang="en-US" sz="7084" dirty="0">
                <a:solidFill>
                  <a:srgbClr val="54243E"/>
                </a:solidFill>
                <a:latin typeface="Bobby Jones"/>
                <a:ea typeface="Bobby Jones"/>
                <a:cs typeface="Bobby Jones"/>
                <a:sym typeface="Bobby Jones"/>
              </a:rPr>
              <a:t>Non-Functional Requirements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66800" y="3238500"/>
            <a:ext cx="16827559" cy="24622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7617" lvl="1" indent="-303809" algn="l">
              <a:lnSpc>
                <a:spcPts val="3940"/>
              </a:lnSpc>
              <a:buFont typeface="Arial"/>
              <a:buChar char="•"/>
            </a:pPr>
            <a:r>
              <a:rPr lang="en-US" sz="2814" dirty="0">
                <a:solidFill>
                  <a:srgbClr val="54243E"/>
                </a:solidFill>
                <a:latin typeface="Blinker"/>
                <a:ea typeface="Blinker"/>
                <a:cs typeface="Blinker"/>
                <a:sym typeface="Blinker"/>
              </a:rPr>
              <a:t>Performance: The program can manage a high volume of users and can execute with quick response times.</a:t>
            </a:r>
          </a:p>
          <a:p>
            <a:pPr marL="607617" lvl="1" indent="-303809" algn="l">
              <a:lnSpc>
                <a:spcPts val="3940"/>
              </a:lnSpc>
              <a:buFont typeface="Arial"/>
              <a:buChar char="•"/>
            </a:pPr>
            <a:endParaRPr lang="en-US" sz="2814" dirty="0">
              <a:solidFill>
                <a:srgbClr val="54243E"/>
              </a:solidFill>
              <a:latin typeface="Blinker"/>
              <a:ea typeface="Blinker"/>
              <a:cs typeface="Blinker"/>
              <a:sym typeface="Blinker"/>
            </a:endParaRPr>
          </a:p>
          <a:p>
            <a:pPr marL="607617" lvl="1" indent="-303809" algn="l">
              <a:lnSpc>
                <a:spcPts val="3940"/>
              </a:lnSpc>
              <a:buFont typeface="Arial"/>
              <a:buChar char="•"/>
            </a:pPr>
            <a:r>
              <a:rPr lang="en-US" sz="2814" dirty="0">
                <a:solidFill>
                  <a:srgbClr val="54243E"/>
                </a:solidFill>
                <a:latin typeface="Blinker"/>
                <a:ea typeface="Blinker"/>
                <a:cs typeface="Blinker"/>
                <a:sym typeface="Blinker"/>
              </a:rPr>
              <a:t>Usability: It's simple to navigate and easy to use the user interface.</a:t>
            </a:r>
          </a:p>
          <a:p>
            <a:pPr marL="607617" lvl="1" indent="-303809" algn="l">
              <a:lnSpc>
                <a:spcPts val="3940"/>
              </a:lnSpc>
              <a:buFont typeface="Arial"/>
              <a:buChar char="•"/>
            </a:pPr>
            <a:endParaRPr lang="en-US" sz="2814" dirty="0">
              <a:solidFill>
                <a:srgbClr val="54243E"/>
              </a:solidFill>
              <a:latin typeface="Blinker"/>
              <a:ea typeface="Blinker"/>
              <a:cs typeface="Blinker"/>
              <a:sym typeface="Blinker"/>
            </a:endParaRPr>
          </a:p>
          <a:p>
            <a:pPr marL="607617" lvl="1" indent="-303809" algn="l">
              <a:lnSpc>
                <a:spcPts val="3940"/>
              </a:lnSpc>
              <a:buFont typeface="Arial"/>
              <a:buChar char="•"/>
            </a:pPr>
            <a:r>
              <a:rPr lang="en-US" sz="2814" dirty="0">
                <a:solidFill>
                  <a:srgbClr val="54243E"/>
                </a:solidFill>
                <a:latin typeface="Blinker"/>
                <a:ea typeface="Blinker"/>
                <a:cs typeface="Blinker"/>
                <a:sym typeface="Blinker"/>
              </a:rPr>
              <a:t>Code quality : cleanliness and documentation are maintained.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3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0E767C-127D-B069-6576-1D45B84CA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1988004-32D6-8FD8-41EF-0D0F25E0277F}"/>
              </a:ext>
            </a:extLst>
          </p:cNvPr>
          <p:cNvGrpSpPr/>
          <p:nvPr/>
        </p:nvGrpSpPr>
        <p:grpSpPr>
          <a:xfrm>
            <a:off x="0" y="8426662"/>
            <a:ext cx="18288000" cy="2785594"/>
            <a:chOff x="0" y="0"/>
            <a:chExt cx="5043647" cy="73365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5DCB1D9-37CB-D9D6-5415-C796F6389E4D}"/>
                </a:ext>
              </a:extLst>
            </p:cNvPr>
            <p:cNvSpPr/>
            <p:nvPr/>
          </p:nvSpPr>
          <p:spPr>
            <a:xfrm>
              <a:off x="0" y="0"/>
              <a:ext cx="5043647" cy="733654"/>
            </a:xfrm>
            <a:custGeom>
              <a:avLst/>
              <a:gdLst/>
              <a:ahLst/>
              <a:cxnLst/>
              <a:rect l="l" t="t" r="r" b="b"/>
              <a:pathLst>
                <a:path w="5043647" h="733654">
                  <a:moveTo>
                    <a:pt x="0" y="0"/>
                  </a:moveTo>
                  <a:lnTo>
                    <a:pt x="5043647" y="0"/>
                  </a:lnTo>
                  <a:lnTo>
                    <a:pt x="5043647" y="733654"/>
                  </a:lnTo>
                  <a:lnTo>
                    <a:pt x="0" y="733654"/>
                  </a:lnTo>
                  <a:close/>
                </a:path>
              </a:pathLst>
            </a:custGeom>
            <a:solidFill>
              <a:srgbClr val="54243E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00D40F1-CAC2-C927-88D2-B30E2CCE9E43}"/>
                </a:ext>
              </a:extLst>
            </p:cNvPr>
            <p:cNvSpPr txBox="1"/>
            <p:nvPr/>
          </p:nvSpPr>
          <p:spPr>
            <a:xfrm>
              <a:off x="0" y="-57150"/>
              <a:ext cx="5043647" cy="7908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8D4616EB-27EC-1E8D-765A-F04E3BF646CA}"/>
              </a:ext>
            </a:extLst>
          </p:cNvPr>
          <p:cNvSpPr txBox="1"/>
          <p:nvPr/>
        </p:nvSpPr>
        <p:spPr>
          <a:xfrm>
            <a:off x="381441" y="876300"/>
            <a:ext cx="17512919" cy="1160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18"/>
              </a:lnSpc>
              <a:spcBef>
                <a:spcPct val="0"/>
              </a:spcBef>
            </a:pPr>
            <a:r>
              <a:rPr lang="en-US" sz="7084" dirty="0">
                <a:solidFill>
                  <a:srgbClr val="54243E"/>
                </a:solidFill>
                <a:latin typeface="Bobby Jones"/>
                <a:ea typeface="Bobby Jones"/>
                <a:cs typeface="Bobby Jones"/>
                <a:sym typeface="Bobby Jones"/>
              </a:rPr>
              <a:t>Technology and software Requirements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5455AE4-B1DA-FDAE-C508-CFEECBE8788D}"/>
              </a:ext>
            </a:extLst>
          </p:cNvPr>
          <p:cNvSpPr txBox="1"/>
          <p:nvPr/>
        </p:nvSpPr>
        <p:spPr>
          <a:xfrm>
            <a:off x="1066800" y="3238500"/>
            <a:ext cx="16827559" cy="34625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7617" lvl="1" indent="-303809" algn="l">
              <a:lnSpc>
                <a:spcPts val="3940"/>
              </a:lnSpc>
              <a:buFont typeface="Arial"/>
              <a:buChar char="•"/>
            </a:pPr>
            <a:r>
              <a:rPr lang="en-US" sz="2814" b="1" dirty="0">
                <a:solidFill>
                  <a:srgbClr val="54243E"/>
                </a:solidFill>
                <a:latin typeface="Blinker"/>
                <a:ea typeface="Blinker"/>
                <a:cs typeface="Blinker"/>
                <a:sym typeface="Blinker"/>
              </a:rPr>
              <a:t>Operating Systems: </a:t>
            </a:r>
            <a:r>
              <a:rPr lang="en-US" sz="2814" dirty="0">
                <a:solidFill>
                  <a:srgbClr val="54243E"/>
                </a:solidFill>
                <a:latin typeface="Blinker"/>
                <a:ea typeface="Blinker"/>
                <a:cs typeface="Blinker"/>
                <a:sym typeface="Blinker"/>
              </a:rPr>
              <a:t>Windows 10/11 or macOS 13+ or Linux (Ubuntu 20.04+)</a:t>
            </a:r>
          </a:p>
          <a:p>
            <a:pPr marL="607617" lvl="1" indent="-303809" algn="l">
              <a:lnSpc>
                <a:spcPts val="3940"/>
              </a:lnSpc>
              <a:buFont typeface="Arial"/>
              <a:buChar char="•"/>
            </a:pPr>
            <a:endParaRPr lang="en-US" sz="2814" dirty="0">
              <a:solidFill>
                <a:srgbClr val="54243E"/>
              </a:solidFill>
              <a:latin typeface="Blinker"/>
              <a:ea typeface="Blinker"/>
              <a:cs typeface="Blinker"/>
              <a:sym typeface="Blinker"/>
            </a:endParaRPr>
          </a:p>
          <a:p>
            <a:pPr marL="607617" lvl="1" indent="-303809" algn="l">
              <a:lnSpc>
                <a:spcPts val="3940"/>
              </a:lnSpc>
              <a:buFont typeface="Arial"/>
              <a:buChar char="•"/>
            </a:pPr>
            <a:r>
              <a:rPr lang="en-US" sz="2814" b="1" dirty="0">
                <a:solidFill>
                  <a:srgbClr val="54243E"/>
                </a:solidFill>
                <a:latin typeface="Blinker"/>
                <a:ea typeface="Blinker"/>
                <a:cs typeface="Blinker"/>
                <a:sym typeface="Blinker"/>
              </a:rPr>
              <a:t>Frontend: </a:t>
            </a:r>
            <a:r>
              <a:rPr lang="en-US" sz="2814" dirty="0">
                <a:solidFill>
                  <a:srgbClr val="54243E"/>
                </a:solidFill>
                <a:latin typeface="Blinker"/>
                <a:ea typeface="Blinker"/>
                <a:cs typeface="Blinker"/>
                <a:sym typeface="Blinker"/>
              </a:rPr>
              <a:t>React.js, Node.js (v14.0+)</a:t>
            </a:r>
          </a:p>
          <a:p>
            <a:pPr marL="607617" lvl="1" indent="-303809" algn="l">
              <a:lnSpc>
                <a:spcPts val="3940"/>
              </a:lnSpc>
              <a:buFont typeface="Arial"/>
              <a:buChar char="•"/>
            </a:pPr>
            <a:endParaRPr lang="en-US" sz="2814" dirty="0">
              <a:solidFill>
                <a:srgbClr val="54243E"/>
              </a:solidFill>
              <a:latin typeface="Blinker"/>
              <a:ea typeface="Blinker"/>
              <a:cs typeface="Blinker"/>
              <a:sym typeface="Blinker"/>
            </a:endParaRPr>
          </a:p>
          <a:p>
            <a:pPr marL="607617" lvl="1" indent="-303809" algn="l">
              <a:lnSpc>
                <a:spcPts val="3940"/>
              </a:lnSpc>
              <a:buFont typeface="Arial"/>
              <a:buChar char="•"/>
            </a:pPr>
            <a:r>
              <a:rPr lang="en-US" sz="2814" b="1" dirty="0">
                <a:solidFill>
                  <a:srgbClr val="54243E"/>
                </a:solidFill>
                <a:latin typeface="Blinker"/>
                <a:ea typeface="Blinker"/>
                <a:cs typeface="Blinker"/>
                <a:sym typeface="Blinker"/>
              </a:rPr>
              <a:t>Backend:</a:t>
            </a:r>
            <a:r>
              <a:rPr lang="en-US" sz="2814" dirty="0">
                <a:solidFill>
                  <a:srgbClr val="54243E"/>
                </a:solidFill>
                <a:latin typeface="Blinker"/>
                <a:ea typeface="Blinker"/>
                <a:cs typeface="Blinker"/>
                <a:sym typeface="Blinker"/>
              </a:rPr>
              <a:t> Express.js with MySQL Database</a:t>
            </a:r>
          </a:p>
          <a:p>
            <a:pPr marL="607617" lvl="1" indent="-303809" algn="l">
              <a:lnSpc>
                <a:spcPts val="3940"/>
              </a:lnSpc>
              <a:buFont typeface="Arial"/>
              <a:buChar char="•"/>
            </a:pPr>
            <a:endParaRPr lang="en-US" sz="2814" dirty="0">
              <a:solidFill>
                <a:srgbClr val="54243E"/>
              </a:solidFill>
              <a:latin typeface="Blinker"/>
              <a:ea typeface="Blinker"/>
              <a:cs typeface="Blinker"/>
              <a:sym typeface="Blinker"/>
            </a:endParaRPr>
          </a:p>
          <a:p>
            <a:pPr marL="607617" lvl="1" indent="-303809" algn="l">
              <a:lnSpc>
                <a:spcPts val="3940"/>
              </a:lnSpc>
              <a:buFont typeface="Arial"/>
              <a:buChar char="•"/>
            </a:pPr>
            <a:r>
              <a:rPr lang="en-US" sz="2814" b="1" dirty="0">
                <a:solidFill>
                  <a:srgbClr val="54243E"/>
                </a:solidFill>
                <a:latin typeface="Blinker"/>
                <a:ea typeface="Blinker"/>
                <a:cs typeface="Blinker"/>
                <a:sym typeface="Blinker"/>
              </a:rPr>
              <a:t>Others:</a:t>
            </a:r>
            <a:r>
              <a:rPr lang="en-US" sz="2814" dirty="0">
                <a:solidFill>
                  <a:srgbClr val="54243E"/>
                </a:solidFill>
                <a:latin typeface="Blinker"/>
                <a:ea typeface="Blinker"/>
                <a:cs typeface="Blinker"/>
                <a:sym typeface="Blinker"/>
              </a:rPr>
              <a:t> NPM (v6.0+), MySQL Workbench</a:t>
            </a:r>
          </a:p>
        </p:txBody>
      </p:sp>
    </p:spTree>
    <p:extLst>
      <p:ext uri="{BB962C8B-B14F-4D97-AF65-F5344CB8AC3E}">
        <p14:creationId xmlns:p14="http://schemas.microsoft.com/office/powerpoint/2010/main" val="38140506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3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6C1D52-BD07-F28B-5730-367A7CE67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A3862E1-7DD4-2C98-1B97-839E5726A57F}"/>
              </a:ext>
            </a:extLst>
          </p:cNvPr>
          <p:cNvGrpSpPr/>
          <p:nvPr/>
        </p:nvGrpSpPr>
        <p:grpSpPr>
          <a:xfrm>
            <a:off x="0" y="8426662"/>
            <a:ext cx="18288000" cy="2785594"/>
            <a:chOff x="0" y="0"/>
            <a:chExt cx="5043647" cy="73365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7418CAB-9912-0E3D-8B33-AF127C4E1BEE}"/>
                </a:ext>
              </a:extLst>
            </p:cNvPr>
            <p:cNvSpPr/>
            <p:nvPr/>
          </p:nvSpPr>
          <p:spPr>
            <a:xfrm>
              <a:off x="0" y="0"/>
              <a:ext cx="5043647" cy="733654"/>
            </a:xfrm>
            <a:custGeom>
              <a:avLst/>
              <a:gdLst/>
              <a:ahLst/>
              <a:cxnLst/>
              <a:rect l="l" t="t" r="r" b="b"/>
              <a:pathLst>
                <a:path w="5043647" h="733654">
                  <a:moveTo>
                    <a:pt x="0" y="0"/>
                  </a:moveTo>
                  <a:lnTo>
                    <a:pt x="5043647" y="0"/>
                  </a:lnTo>
                  <a:lnTo>
                    <a:pt x="5043647" y="733654"/>
                  </a:lnTo>
                  <a:lnTo>
                    <a:pt x="0" y="733654"/>
                  </a:lnTo>
                  <a:close/>
                </a:path>
              </a:pathLst>
            </a:custGeom>
            <a:solidFill>
              <a:srgbClr val="54243E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321E549-49E4-4667-3320-779F31F1D69B}"/>
                </a:ext>
              </a:extLst>
            </p:cNvPr>
            <p:cNvSpPr txBox="1"/>
            <p:nvPr/>
          </p:nvSpPr>
          <p:spPr>
            <a:xfrm>
              <a:off x="0" y="-57150"/>
              <a:ext cx="5043647" cy="7908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6BB6B18E-B2BB-B143-EA4F-9748C182203F}"/>
              </a:ext>
            </a:extLst>
          </p:cNvPr>
          <p:cNvSpPr txBox="1"/>
          <p:nvPr/>
        </p:nvSpPr>
        <p:spPr>
          <a:xfrm>
            <a:off x="381441" y="876300"/>
            <a:ext cx="17512919" cy="1229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18"/>
              </a:lnSpc>
              <a:spcBef>
                <a:spcPct val="0"/>
              </a:spcBef>
            </a:pPr>
            <a:r>
              <a:rPr lang="en-US" sz="7084" dirty="0">
                <a:solidFill>
                  <a:srgbClr val="54243E"/>
                </a:solidFill>
                <a:latin typeface="Bobby Jones"/>
                <a:ea typeface="Bobby Jones"/>
                <a:cs typeface="Bobby Jones"/>
                <a:sym typeface="Bobby Jones"/>
              </a:rPr>
              <a:t>Accomplishments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918A565-CA88-18E5-1D63-4841877EA8BC}"/>
              </a:ext>
            </a:extLst>
          </p:cNvPr>
          <p:cNvSpPr txBox="1"/>
          <p:nvPr/>
        </p:nvSpPr>
        <p:spPr>
          <a:xfrm>
            <a:off x="1028700" y="2532747"/>
            <a:ext cx="16865659" cy="5893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7617" lvl="1" indent="-303809" algn="l">
              <a:lnSpc>
                <a:spcPts val="3940"/>
              </a:lnSpc>
              <a:buFont typeface="Arial"/>
              <a:buChar char="•"/>
            </a:pPr>
            <a:r>
              <a:rPr lang="en-US" sz="2814" dirty="0">
                <a:solidFill>
                  <a:srgbClr val="54243E"/>
                </a:solidFill>
                <a:latin typeface="Blinker"/>
                <a:ea typeface="Blinker"/>
                <a:cs typeface="Blinker"/>
                <a:sym typeface="Blinker"/>
              </a:rPr>
              <a:t>Implemented secure user registration and login with data validation.</a:t>
            </a:r>
          </a:p>
          <a:p>
            <a:pPr algn="l">
              <a:lnSpc>
                <a:spcPts val="3940"/>
              </a:lnSpc>
            </a:pPr>
            <a:endParaRPr lang="en-US" sz="2814" dirty="0">
              <a:solidFill>
                <a:srgbClr val="54243E"/>
              </a:solidFill>
              <a:latin typeface="Blinker"/>
              <a:ea typeface="Blinker"/>
              <a:cs typeface="Blinker"/>
              <a:sym typeface="Blinker"/>
            </a:endParaRPr>
          </a:p>
          <a:p>
            <a:pPr marL="607617" lvl="1" indent="-303809" algn="l">
              <a:lnSpc>
                <a:spcPts val="3940"/>
              </a:lnSpc>
              <a:buFont typeface="Arial"/>
              <a:buChar char="•"/>
            </a:pPr>
            <a:r>
              <a:rPr lang="en-US" sz="2814" dirty="0">
                <a:solidFill>
                  <a:srgbClr val="54243E"/>
                </a:solidFill>
                <a:latin typeface="Blinker"/>
                <a:ea typeface="Blinker"/>
                <a:cs typeface="Blinker"/>
                <a:sym typeface="Blinker"/>
              </a:rPr>
              <a:t>Developed workout and dietary tracking tools with edit/delete options.</a:t>
            </a:r>
          </a:p>
          <a:p>
            <a:pPr algn="l">
              <a:lnSpc>
                <a:spcPts val="3940"/>
              </a:lnSpc>
            </a:pPr>
            <a:endParaRPr lang="en-US" sz="2814" dirty="0">
              <a:solidFill>
                <a:srgbClr val="54243E"/>
              </a:solidFill>
              <a:latin typeface="Blinker"/>
              <a:ea typeface="Blinker"/>
              <a:cs typeface="Blinker"/>
              <a:sym typeface="Blinker"/>
            </a:endParaRPr>
          </a:p>
          <a:p>
            <a:pPr marL="607617" lvl="1" indent="-303809" algn="l">
              <a:lnSpc>
                <a:spcPts val="3940"/>
              </a:lnSpc>
              <a:buFont typeface="Arial"/>
              <a:buChar char="•"/>
            </a:pPr>
            <a:r>
              <a:rPr lang="en-US" sz="2814" dirty="0">
                <a:solidFill>
                  <a:srgbClr val="54243E"/>
                </a:solidFill>
                <a:latin typeface="Blinker"/>
                <a:ea typeface="Blinker"/>
                <a:cs typeface="Blinker"/>
                <a:sym typeface="Blinker"/>
              </a:rPr>
              <a:t>Created interactive graphs for tracking progress over time.</a:t>
            </a:r>
          </a:p>
          <a:p>
            <a:pPr algn="l">
              <a:lnSpc>
                <a:spcPts val="3940"/>
              </a:lnSpc>
            </a:pPr>
            <a:endParaRPr lang="en-US" sz="2814" dirty="0">
              <a:solidFill>
                <a:srgbClr val="54243E"/>
              </a:solidFill>
              <a:latin typeface="Blinker"/>
              <a:ea typeface="Blinker"/>
              <a:cs typeface="Blinker"/>
              <a:sym typeface="Blinker"/>
            </a:endParaRPr>
          </a:p>
          <a:p>
            <a:pPr marL="607617" lvl="1" indent="-303809" algn="l">
              <a:lnSpc>
                <a:spcPts val="3940"/>
              </a:lnSpc>
              <a:buFont typeface="Arial"/>
              <a:buChar char="•"/>
            </a:pPr>
            <a:r>
              <a:rPr lang="en-US" sz="2814" dirty="0">
                <a:solidFill>
                  <a:srgbClr val="54243E"/>
                </a:solidFill>
                <a:latin typeface="Blinker"/>
                <a:ea typeface="Blinker"/>
                <a:cs typeface="Blinker"/>
                <a:sym typeface="Blinker"/>
              </a:rPr>
              <a:t>Enabled users to manage personal information and account settings.</a:t>
            </a:r>
          </a:p>
          <a:p>
            <a:pPr algn="l">
              <a:lnSpc>
                <a:spcPts val="3940"/>
              </a:lnSpc>
            </a:pPr>
            <a:endParaRPr lang="en-US" sz="2814" dirty="0">
              <a:solidFill>
                <a:srgbClr val="54243E"/>
              </a:solidFill>
              <a:latin typeface="Blinker"/>
              <a:ea typeface="Blinker"/>
              <a:cs typeface="Blinker"/>
              <a:sym typeface="Blinker"/>
            </a:endParaRPr>
          </a:p>
          <a:p>
            <a:pPr marL="607617" lvl="1" indent="-303809" algn="l">
              <a:lnSpc>
                <a:spcPts val="3940"/>
              </a:lnSpc>
              <a:buFont typeface="Arial"/>
              <a:buChar char="•"/>
            </a:pPr>
            <a:r>
              <a:rPr lang="en-US" sz="2814" dirty="0">
                <a:solidFill>
                  <a:srgbClr val="54243E"/>
                </a:solidFill>
                <a:latin typeface="Blinker"/>
                <a:ea typeface="Blinker"/>
                <a:cs typeface="Blinker"/>
                <a:sym typeface="Blinker"/>
              </a:rPr>
              <a:t>Ensured secure session management with a reliable logout feature.</a:t>
            </a:r>
          </a:p>
          <a:p>
            <a:pPr algn="l">
              <a:lnSpc>
                <a:spcPts val="3940"/>
              </a:lnSpc>
            </a:pPr>
            <a:endParaRPr lang="en-US" sz="2814" dirty="0">
              <a:solidFill>
                <a:srgbClr val="54243E"/>
              </a:solidFill>
              <a:latin typeface="Blinker"/>
              <a:ea typeface="Blinker"/>
              <a:cs typeface="Blinker"/>
              <a:sym typeface="Blinker"/>
            </a:endParaRPr>
          </a:p>
          <a:p>
            <a:pPr marL="607617" lvl="1" indent="-303809" algn="l">
              <a:lnSpc>
                <a:spcPts val="3940"/>
              </a:lnSpc>
              <a:buFont typeface="Arial"/>
              <a:buChar char="•"/>
            </a:pPr>
            <a:r>
              <a:rPr lang="en-US" sz="2814" dirty="0">
                <a:solidFill>
                  <a:srgbClr val="54243E"/>
                </a:solidFill>
                <a:latin typeface="Blinker"/>
                <a:ea typeface="Blinker"/>
                <a:cs typeface="Blinker"/>
                <a:sym typeface="Blinker"/>
              </a:rPr>
              <a:t>Designed a scalable framework for future enhancements.</a:t>
            </a:r>
          </a:p>
          <a:p>
            <a:pPr algn="ctr">
              <a:lnSpc>
                <a:spcPts val="3636"/>
              </a:lnSpc>
              <a:spcBef>
                <a:spcPct val="0"/>
              </a:spcBef>
            </a:pPr>
            <a:endParaRPr lang="en-US" sz="2814" dirty="0">
              <a:solidFill>
                <a:srgbClr val="54243E"/>
              </a:solidFill>
              <a:latin typeface="Blinker"/>
              <a:ea typeface="Blinker"/>
              <a:cs typeface="Blinker"/>
              <a:sym typeface="Blinker"/>
            </a:endParaRPr>
          </a:p>
        </p:txBody>
      </p:sp>
    </p:spTree>
    <p:extLst>
      <p:ext uri="{BB962C8B-B14F-4D97-AF65-F5344CB8AC3E}">
        <p14:creationId xmlns:p14="http://schemas.microsoft.com/office/powerpoint/2010/main" val="3653031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3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8426662"/>
            <a:ext cx="18288000" cy="2785594"/>
            <a:chOff x="0" y="0"/>
            <a:chExt cx="5043647" cy="73365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43647" cy="733654"/>
            </a:xfrm>
            <a:custGeom>
              <a:avLst/>
              <a:gdLst/>
              <a:ahLst/>
              <a:cxnLst/>
              <a:rect l="l" t="t" r="r" b="b"/>
              <a:pathLst>
                <a:path w="5043647" h="733654">
                  <a:moveTo>
                    <a:pt x="0" y="0"/>
                  </a:moveTo>
                  <a:lnTo>
                    <a:pt x="5043647" y="0"/>
                  </a:lnTo>
                  <a:lnTo>
                    <a:pt x="5043647" y="733654"/>
                  </a:lnTo>
                  <a:lnTo>
                    <a:pt x="0" y="733654"/>
                  </a:lnTo>
                  <a:close/>
                </a:path>
              </a:pathLst>
            </a:custGeom>
            <a:solidFill>
              <a:srgbClr val="54243E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5043647" cy="7908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81441" y="876300"/>
            <a:ext cx="17512919" cy="1229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18"/>
              </a:lnSpc>
              <a:spcBef>
                <a:spcPct val="0"/>
              </a:spcBef>
            </a:pPr>
            <a:r>
              <a:rPr lang="en-US" sz="7084" dirty="0">
                <a:solidFill>
                  <a:srgbClr val="54243E"/>
                </a:solidFill>
                <a:latin typeface="Bobby Jones"/>
                <a:ea typeface="Bobby Jones"/>
                <a:cs typeface="Bobby Jones"/>
                <a:sym typeface="Bobby Jones"/>
              </a:rPr>
              <a:t>Future Scope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3158567"/>
            <a:ext cx="16865659" cy="3912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7617" lvl="1" indent="-303809" algn="l">
              <a:lnSpc>
                <a:spcPts val="3940"/>
              </a:lnSpc>
              <a:buFont typeface="Arial"/>
              <a:buChar char="•"/>
            </a:pPr>
            <a:r>
              <a:rPr lang="en-US" sz="2814" b="1" dirty="0">
                <a:solidFill>
                  <a:srgbClr val="54243E"/>
                </a:solidFill>
                <a:latin typeface="Blinker Bold"/>
                <a:ea typeface="Blinker Bold"/>
                <a:cs typeface="Blinker Bold"/>
                <a:sym typeface="Blinker Bold"/>
              </a:rPr>
              <a:t>Add Smart Meal Suggestions:</a:t>
            </a:r>
          </a:p>
          <a:p>
            <a:pPr marL="1215234" lvl="2" indent="-405078" algn="l">
              <a:lnSpc>
                <a:spcPts val="3940"/>
              </a:lnSpc>
              <a:buFont typeface="Arial"/>
              <a:buChar char="⚬"/>
            </a:pPr>
            <a:r>
              <a:rPr lang="en-US" sz="2814" dirty="0">
                <a:solidFill>
                  <a:srgbClr val="54243E"/>
                </a:solidFill>
                <a:latin typeface="Blinker"/>
                <a:ea typeface="Blinker"/>
                <a:cs typeface="Blinker"/>
                <a:sym typeface="Blinker"/>
              </a:rPr>
              <a:t>Use AI and user data (e.g., dietary preferences, fitness goals) to recommend meals tailored to calorie and nutrient requirements, helping users make healthier food choices.</a:t>
            </a:r>
          </a:p>
          <a:p>
            <a:pPr algn="l">
              <a:lnSpc>
                <a:spcPts val="3940"/>
              </a:lnSpc>
            </a:pPr>
            <a:endParaRPr lang="en-US" sz="2814" dirty="0">
              <a:solidFill>
                <a:srgbClr val="54243E"/>
              </a:solidFill>
              <a:latin typeface="Blinker"/>
              <a:ea typeface="Blinker"/>
              <a:cs typeface="Blinker"/>
              <a:sym typeface="Blinker"/>
            </a:endParaRPr>
          </a:p>
          <a:p>
            <a:pPr marL="607617" lvl="1" indent="-303809" algn="l">
              <a:lnSpc>
                <a:spcPts val="3940"/>
              </a:lnSpc>
              <a:buFont typeface="Arial"/>
              <a:buChar char="•"/>
            </a:pPr>
            <a:r>
              <a:rPr lang="en-US" sz="2814" b="1" dirty="0">
                <a:solidFill>
                  <a:srgbClr val="54243E"/>
                </a:solidFill>
                <a:latin typeface="Blinker Bold"/>
                <a:ea typeface="Blinker Bold"/>
                <a:cs typeface="Blinker Bold"/>
                <a:sym typeface="Blinker Bold"/>
              </a:rPr>
              <a:t>Offer Better Health Insights:</a:t>
            </a:r>
          </a:p>
          <a:p>
            <a:pPr marL="1215234" lvl="2" indent="-405078" algn="l">
              <a:lnSpc>
                <a:spcPts val="3940"/>
              </a:lnSpc>
              <a:buFont typeface="Arial"/>
              <a:buChar char="⚬"/>
            </a:pPr>
            <a:r>
              <a:rPr lang="en-US" sz="2814" dirty="0">
                <a:solidFill>
                  <a:srgbClr val="54243E"/>
                </a:solidFill>
                <a:latin typeface="Blinker"/>
                <a:ea typeface="Blinker"/>
                <a:cs typeface="Blinker"/>
                <a:sym typeface="Blinker"/>
              </a:rPr>
              <a:t>Implement advanced analytics to provide users with detailed reports, trends, and predictions, such as workout effectiveness or expected progress toward weight and fitness goals.</a:t>
            </a:r>
          </a:p>
          <a:p>
            <a:pPr algn="ctr">
              <a:lnSpc>
                <a:spcPts val="3636"/>
              </a:lnSpc>
              <a:spcBef>
                <a:spcPct val="0"/>
              </a:spcBef>
            </a:pPr>
            <a:endParaRPr lang="en-US" sz="2814" dirty="0">
              <a:solidFill>
                <a:srgbClr val="54243E"/>
              </a:solidFill>
              <a:latin typeface="Blinker"/>
              <a:ea typeface="Blinker"/>
              <a:cs typeface="Blinker"/>
              <a:sym typeface="Blinke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3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8426662"/>
            <a:ext cx="18288000" cy="2785594"/>
            <a:chOff x="0" y="0"/>
            <a:chExt cx="5043647" cy="73365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43647" cy="733654"/>
            </a:xfrm>
            <a:custGeom>
              <a:avLst/>
              <a:gdLst/>
              <a:ahLst/>
              <a:cxnLst/>
              <a:rect l="l" t="t" r="r" b="b"/>
              <a:pathLst>
                <a:path w="5043647" h="733654">
                  <a:moveTo>
                    <a:pt x="0" y="0"/>
                  </a:moveTo>
                  <a:lnTo>
                    <a:pt x="5043647" y="0"/>
                  </a:lnTo>
                  <a:lnTo>
                    <a:pt x="5043647" y="733654"/>
                  </a:lnTo>
                  <a:lnTo>
                    <a:pt x="0" y="733654"/>
                  </a:lnTo>
                  <a:close/>
                </a:path>
              </a:pathLst>
            </a:custGeom>
            <a:solidFill>
              <a:srgbClr val="54243E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5043647" cy="7908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71525" y="2947034"/>
            <a:ext cx="16744950" cy="3772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414"/>
              </a:lnSpc>
              <a:spcBef>
                <a:spcPct val="0"/>
              </a:spcBef>
            </a:pPr>
            <a:r>
              <a:rPr lang="en-US" sz="21724" u="none" dirty="0">
                <a:solidFill>
                  <a:srgbClr val="54243E"/>
                </a:solidFill>
                <a:latin typeface="Bobby Jones"/>
                <a:ea typeface="Bobby Jones"/>
                <a:cs typeface="Bobby Jones"/>
                <a:sym typeface="Bobby Jones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764</Words>
  <Application>Microsoft Office PowerPoint</Application>
  <PresentationFormat>Custom</PresentationFormat>
  <Paragraphs>124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Blinker Bold</vt:lpstr>
      <vt:lpstr>Bobby Jones</vt:lpstr>
      <vt:lpstr>Blinker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Calorease</dc:title>
  <cp:lastModifiedBy>Devaki Tella</cp:lastModifiedBy>
  <cp:revision>9</cp:revision>
  <dcterms:created xsi:type="dcterms:W3CDTF">2006-08-16T00:00:00Z</dcterms:created>
  <dcterms:modified xsi:type="dcterms:W3CDTF">2024-11-26T15:55:22Z</dcterms:modified>
  <dc:identifier>DAGXXSqL0vY</dc:identifier>
</cp:coreProperties>
</file>